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2"/>
    <p:sldId id="258" r:id="rId4"/>
    <p:sldId id="257" r:id="rId3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0A335FE1-DB61-7FC0-EA23-5255B83AD5DB}">
          <p14:sldIdLst>
            <p14:sldId id="256"/>
          </p14:sldIdLst>
        </p14:section>
        <p14:section name="Introduction" id="{B34A4D58-E32B-9C9D-191A-5E10DD7D57D5}">
          <p14:sldIdLst>
            <p14:sldId id="257"/>
          </p14:sldIdLst>
        </p14:section>
        <p14:section name="Motivation" id="{A5408E24-ADE4-3989-B6D8-7EBC1DB019A7}">
          <p14:sldIdLst>
            <p14:sldId id="258"/>
          </p14:sldIdLst>
        </p14:section>
        <p14:section name="Replication" id="{7D851C3A-0143-97FA-11B1-46CF23BEC336}">
          <p14:sldIdLst>
            <p14:sldId id="259"/>
          </p14:sldIdLst>
        </p14:section>
        <p14:section name="Calibration" id="{26EC6093-3243-8E9C-925F-2820A5926115}">
          <p14:sldIdLst>
            <p14:sldId id="260"/>
            <p14:sldId id="261"/>
          </p14:sldIdLst>
        </p14:section>
        <p14:section name="Fed funds futures" id="{D20EA55A-2C9E-3B92-1F9A-9CF92D4A975A}">
          <p14:sldIdLst>
            <p14:sldId id="262"/>
          </p14:sldIdLst>
        </p14:section>
        <p14:section name="Kalshi vs. futures" id="{6873AE98-CFC4-5F81-C6EA-820FA7146F30}">
          <p14:sldIdLst>
            <p14:sldId id="263"/>
          </p14:sldIdLst>
        </p14:section>
        <p14:section name="Lead–lag" id="{31FA175F-2E57-7467-96DD-C22B3D32198D}">
          <p14:sldIdLst>
            <p14:sldId id="264"/>
          </p14:sldIdLst>
        </p14:section>
        <p14:section name="Next steps" id="{B46B892C-BF6D-45F7-D881-184FAB42DE3B}">
          <p14:sldIdLst>
            <p14:sldId id="265"/>
            <p14:sldId id="266"/>
          </p14:sldIdLst>
        </p14:section>
        <p14:section name="Appendix" id="{E09DC96E-FA14-4AE0-14CE-FE5EEA84EFAF}">
          <p14:sldIdLst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6064"/>
  </p:normalViewPr>
  <p:slideViewPr>
    <p:cSldViewPr snapToGrid="0" snapToObjects="1">
      <p:cViewPr varScale="1">
        <p:scale>
          <a:sx n="119" d="100"/>
          <a:sy n="119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Blanco Prada" userId="b5d661c5-7dc0-4860-84c8-146966e044ab" providerId="ADAL" clId="{1636A3F9-7FDE-5619-866B-56CCACCC1B06}"/>
    <pc:docChg chg="undo custSel modSld">
      <pc:chgData name="Andres Blanco Prada" userId="b5d661c5-7dc0-4860-84c8-146966e044ab" providerId="ADAL" clId="{1636A3F9-7FDE-5619-866B-56CCACCC1B06}" dt="2026-10-13T19:21:05.212" v="66" actId="20577"/>
      <pc:docMkLst>
        <pc:docMk/>
      </pc:docMkLst>
      <pc:sldChg chg="modSp mod">
        <pc:chgData name="Andres Blanco Prada" userId="b5d661c5-7dc0-4860-84c8-146966e044ab" providerId="ADAL" clId="{1636A3F9-7FDE-5619-866B-56CCACCC1B06}" dt="2026-10-13T19:21:05.212" v="66" actId="20577"/>
        <pc:sldMkLst>
          <pc:docMk/>
          <pc:sldMk cId="0" sldId="257"/>
        </pc:sldMkLst>
        <pc:spChg chg="mod">
          <ac:chgData name="Andres Blanco Prada" userId="b5d661c5-7dc0-4860-84c8-146966e044ab" providerId="ADAL" clId="{1636A3F9-7FDE-5619-866B-56CCACCC1B06}" dt="2026-10-13T19:20:57.795" v="62" actId="1035"/>
          <ac:spMkLst>
            <pc:docMk/>
            <pc:sldMk cId="0" sldId="257"/>
            <ac:spMk id="6" creationId="{00000000-0000-0000-0000-000000000000}"/>
          </ac:spMkLst>
        </pc:spChg>
        <pc:spChg chg="mod">
          <ac:chgData name="Andres Blanco Prada" userId="b5d661c5-7dc0-4860-84c8-146966e044ab" providerId="ADAL" clId="{1636A3F9-7FDE-5619-866B-56CCACCC1B06}" dt="2026-10-13T19:20:54.370" v="55" actId="10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Andres Blanco Prada" userId="b5d661c5-7dc0-4860-84c8-146966e044ab" providerId="ADAL" clId="{1636A3F9-7FDE-5619-866B-56CCACCC1B06}" dt="2026-10-13T19:21:05.212" v="66" actId="20577"/>
          <ac:spMkLst>
            <pc:docMk/>
            <pc:sldMk cId="0" sldId="257"/>
            <ac:spMk id="10" creationId="{00000000-0000-0000-0000-000000000000}"/>
          </ac:spMkLst>
        </pc:spChg>
      </pc:sldChg>
      <pc:sldChg chg="delSp modSp mod">
        <pc:chgData name="Andres Blanco Prada" userId="b5d661c5-7dc0-4860-84c8-146966e044ab" providerId="ADAL" clId="{1636A3F9-7FDE-5619-866B-56CCACCC1B06}" dt="2026-10-13T19:18:35.729" v="28" actId="20577"/>
        <pc:sldMkLst>
          <pc:docMk/>
          <pc:sldMk cId="0" sldId="260"/>
        </pc:sldMkLst>
        <pc:spChg chg="mod">
          <ac:chgData name="Andres Blanco Prada" userId="b5d661c5-7dc0-4860-84c8-146966e044ab" providerId="ADAL" clId="{1636A3F9-7FDE-5619-866B-56CCACCC1B06}" dt="2026-10-13T19:18:26.748" v="22" actId="1036"/>
          <ac:spMkLst>
            <pc:docMk/>
            <pc:sldMk cId="0" sldId="260"/>
            <ac:spMk id="8" creationId="{00000000-0000-0000-0000-000000000000}"/>
          </ac:spMkLst>
        </pc:spChg>
        <pc:spChg chg="mod">
          <ac:chgData name="Andres Blanco Prada" userId="b5d661c5-7dc0-4860-84c8-146966e044ab" providerId="ADAL" clId="{1636A3F9-7FDE-5619-866B-56CCACCC1B06}" dt="2026-10-13T19:18:35.729" v="28" actId="20577"/>
          <ac:spMkLst>
            <pc:docMk/>
            <pc:sldMk cId="0" sldId="260"/>
            <ac:spMk id="9" creationId="{00000000-0000-0000-0000-000000000000}"/>
          </ac:spMkLst>
        </pc:spChg>
        <pc:spChg chg="mod">
          <ac:chgData name="Andres Blanco Prada" userId="b5d661c5-7dc0-4860-84c8-146966e044ab" providerId="ADAL" clId="{1636A3F9-7FDE-5619-866B-56CCACCC1B06}" dt="2026-10-13T19:18:26.748" v="22" actId="1036"/>
          <ac:spMkLst>
            <pc:docMk/>
            <pc:sldMk cId="0" sldId="260"/>
            <ac:spMk id="10" creationId="{00000000-0000-0000-0000-000000000000}"/>
          </ac:spMkLst>
        </pc:spChg>
        <pc:spChg chg="mod">
          <ac:chgData name="Andres Blanco Prada" userId="b5d661c5-7dc0-4860-84c8-146966e044ab" providerId="ADAL" clId="{1636A3F9-7FDE-5619-866B-56CCACCC1B06}" dt="2026-10-13T19:18:33.997" v="27" actId="20577"/>
          <ac:spMkLst>
            <pc:docMk/>
            <pc:sldMk cId="0" sldId="260"/>
            <ac:spMk id="11" creationId="{00000000-0000-0000-0000-000000000000}"/>
          </ac:spMkLst>
        </pc:spChg>
        <pc:spChg chg="del">
          <ac:chgData name="Andres Blanco Prada" userId="b5d661c5-7dc0-4860-84c8-146966e044ab" providerId="ADAL" clId="{1636A3F9-7FDE-5619-866B-56CCACCC1B06}" dt="2026-10-13T19:18:05.970" v="0" actId="478"/>
          <ac:spMkLst>
            <pc:docMk/>
            <pc:sldMk cId="0" sldId="260"/>
            <ac:spMk id="12" creationId="{00000000-0000-0000-0000-000000000000}"/>
          </ac:spMkLst>
        </pc:spChg>
      </pc:sldChg>
      <pc:sldChg chg="modSp mod">
        <pc:chgData name="Andres Blanco Prada" userId="b5d661c5-7dc0-4860-84c8-146966e044ab" providerId="ADAL" clId="{1636A3F9-7FDE-5619-866B-56CCACCC1B06}" dt="2026-10-13T19:19:33.095" v="31" actId="20577"/>
        <pc:sldMkLst>
          <pc:docMk/>
          <pc:sldMk cId="0" sldId="261"/>
        </pc:sldMkLst>
        <pc:spChg chg="mod">
          <ac:chgData name="Andres Blanco Prada" userId="b5d661c5-7dc0-4860-84c8-146966e044ab" providerId="ADAL" clId="{1636A3F9-7FDE-5619-866B-56CCACCC1B06}" dt="2026-10-13T19:19:33.095" v="31" actId="20577"/>
          <ac:spMkLst>
            <pc:docMk/>
            <pc:sldMk cId="0" sldId="261"/>
            <ac:spMk id="12" creationId="{00000000-0000-0000-0000-000000000000}"/>
          </ac:spMkLst>
        </pc:spChg>
      </pc:sldChg>
      <pc:sldChg chg="delSp mod">
        <pc:chgData name="Andres Blanco Prada" userId="b5d661c5-7dc0-4860-84c8-146966e044ab" providerId="ADAL" clId="{1636A3F9-7FDE-5619-866B-56CCACCC1B06}" dt="2026-10-13T19:19:53.145" v="32" actId="478"/>
        <pc:sldMkLst>
          <pc:docMk/>
          <pc:sldMk cId="0" sldId="263"/>
        </pc:sldMkLst>
        <pc:spChg chg="del">
          <ac:chgData name="Andres Blanco Prada" userId="b5d661c5-7dc0-4860-84c8-146966e044ab" providerId="ADAL" clId="{1636A3F9-7FDE-5619-866B-56CCACCC1B06}" dt="2026-10-13T19:19:53.145" v="32" actId="478"/>
          <ac:spMkLst>
            <pc:docMk/>
            <pc:sldMk cId="0" sldId="263"/>
            <ac:spMk id="13" creationId="{00000000-0000-0000-0000-000000000000}"/>
          </ac:spMkLst>
        </pc:spChg>
      </pc:sldChg>
      <pc:sldChg chg="modSp mod">
        <pc:chgData name="Andres Blanco Prada" userId="b5d661c5-7dc0-4860-84c8-146966e044ab" providerId="ADAL" clId="{1636A3F9-7FDE-5619-866B-56CCACCC1B06}" dt="2026-10-13T19:20:02.370" v="33" actId="20577"/>
        <pc:sldMkLst>
          <pc:docMk/>
          <pc:sldMk cId="0" sldId="266"/>
        </pc:sldMkLst>
        <pc:spChg chg="mod">
          <ac:chgData name="Andres Blanco Prada" userId="b5d661c5-7dc0-4860-84c8-146966e044ab" providerId="ADAL" clId="{1636A3F9-7FDE-5619-866B-56CCACCC1B06}" dt="2026-10-13T19:20:02.370" v="33" actId="20577"/>
          <ac:spMkLst>
            <pc:docMk/>
            <pc:sldMk cId="0" sldId="266"/>
            <ac:spMk id="20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Contracts traded</c:v>
                </c:pt>
              </c:strCache>
            </c:strRef>
          </c:tx>
          <c:spPr>
            <a:solidFill>
              <a:srgbClr val="A31F34"/>
            </a:solidFill>
            <a:effectLst/>
          </c:spPr>
          <c:invertIfNegative val="0"/>
          <c:cat>
            <c:strRef>
              <c:f>Sheet1!$A$2:$A$43</c:f>
              <c:strCache>
                <c:ptCount val="42"/>
                <c:pt idx="0">
                  <c:v>Apr 2023</c:v>
                </c:pt>
                <c:pt idx="6">
                  <c:v>Oct 2023</c:v>
                </c:pt>
                <c:pt idx="12">
                  <c:v>Apr 2024</c:v>
                </c:pt>
                <c:pt idx="18">
                  <c:v>Oct 2024</c:v>
                </c:pt>
                <c:pt idx="24">
                  <c:v>Apr 2025</c:v>
                </c:pt>
                <c:pt idx="30">
                  <c:v>Oct 2025</c:v>
                </c:pt>
                <c:pt idx="36">
                  <c:v>Apr 2026</c:v>
                </c:pt>
              </c:strCache>
            </c: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159012</c:v>
                </c:pt>
                <c:pt idx="1">
                  <c:v>442958</c:v>
                </c:pt>
                <c:pt idx="2">
                  <c:v>219295</c:v>
                </c:pt>
                <c:pt idx="3">
                  <c:v>224947</c:v>
                </c:pt>
                <c:pt idx="4">
                  <c:v>115397</c:v>
                </c:pt>
                <c:pt idx="5">
                  <c:v>146644</c:v>
                </c:pt>
                <c:pt idx="6">
                  <c:v>271659</c:v>
                </c:pt>
                <c:pt idx="7">
                  <c:v>113417</c:v>
                </c:pt>
                <c:pt idx="8">
                  <c:v>74924</c:v>
                </c:pt>
                <c:pt idx="9">
                  <c:v>271038</c:v>
                </c:pt>
                <c:pt idx="10">
                  <c:v>202054</c:v>
                </c:pt>
                <c:pt idx="11">
                  <c:v>321724</c:v>
                </c:pt>
                <c:pt idx="12">
                  <c:v>547039</c:v>
                </c:pt>
                <c:pt idx="13">
                  <c:v>726834</c:v>
                </c:pt>
                <c:pt idx="14">
                  <c:v>348048</c:v>
                </c:pt>
                <c:pt idx="15">
                  <c:v>1004557</c:v>
                </c:pt>
                <c:pt idx="16">
                  <c:v>615514</c:v>
                </c:pt>
                <c:pt idx="17">
                  <c:v>2155781</c:v>
                </c:pt>
                <c:pt idx="18">
                  <c:v>644002</c:v>
                </c:pt>
                <c:pt idx="19">
                  <c:v>2060223</c:v>
                </c:pt>
                <c:pt idx="20">
                  <c:v>2156495</c:v>
                </c:pt>
                <c:pt idx="21">
                  <c:v>1817841</c:v>
                </c:pt>
                <c:pt idx="22">
                  <c:v>1196725</c:v>
                </c:pt>
                <c:pt idx="23">
                  <c:v>2384730</c:v>
                </c:pt>
                <c:pt idx="24">
                  <c:v>26016644</c:v>
                </c:pt>
                <c:pt idx="25">
                  <c:v>34364731</c:v>
                </c:pt>
                <c:pt idx="26">
                  <c:v>26419767</c:v>
                </c:pt>
                <c:pt idx="27">
                  <c:v>41541072</c:v>
                </c:pt>
                <c:pt idx="28">
                  <c:v>24588568</c:v>
                </c:pt>
                <c:pt idx="29">
                  <c:v>73221459</c:v>
                </c:pt>
                <c:pt idx="30">
                  <c:v>36542257</c:v>
                </c:pt>
                <c:pt idx="31">
                  <c:v>16436500</c:v>
                </c:pt>
                <c:pt idx="32">
                  <c:v>27541738</c:v>
                </c:pt>
                <c:pt idx="33">
                  <c:v>34578473</c:v>
                </c:pt>
                <c:pt idx="34">
                  <c:v>13194548</c:v>
                </c:pt>
                <c:pt idx="35">
                  <c:v>29147003</c:v>
                </c:pt>
                <c:pt idx="36">
                  <c:v>13810785</c:v>
                </c:pt>
                <c:pt idx="37">
                  <c:v>11053130</c:v>
                </c:pt>
                <c:pt idx="38">
                  <c:v>26637872</c:v>
                </c:pt>
                <c:pt idx="39">
                  <c:v>65698274</c:v>
                </c:pt>
                <c:pt idx="40">
                  <c:v>24742812</c:v>
                </c:pt>
                <c:pt idx="41">
                  <c:v>85599168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904-4144-9BA2-89797CC21E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logBase val="10"/>
          <c:orientation val="minMax"/>
          <c:max val="100000000"/>
          <c:min val="1000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E2126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E2126"/>
                    </a:solidFill>
                    <a:latin typeface="+mn-lt"/>
                  </a:rPr>
                  <a:t>Contracts per month (log scale)</a:t>
                </a:r>
              </a:p>
            </c:rich>
          </c:tx>
          <c:overlay val="0"/>
        </c:title>
        <c:numFmt formatCode="[&gt;=1000000]0,,&quot;M&quot;;0,&quot;K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1–21 days (main)</c:v>
                </c:pt>
              </c:strCache>
            </c:strRef>
          </c:tx>
          <c:spPr>
            <a:ln w="31750" cap="flat">
              <a:solidFill>
                <a:srgbClr val="6E1423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Sheet1!$B$2:$B$102</c:f>
              <c:numCache>
                <c:formatCode>General</c:formatCode>
                <c:ptCount val="101"/>
                <c:pt idx="0">
                  <c:v>1.9121039076319037E-6</c:v>
                </c:pt>
                <c:pt idx="1">
                  <c:v>3.687381952214194E-4</c:v>
                </c:pt>
                <c:pt idx="2">
                  <c:v>1.2622740118621953E-3</c:v>
                </c:pt>
                <c:pt idx="3">
                  <c:v>2.6103718651484917E-3</c:v>
                </c:pt>
                <c:pt idx="4">
                  <c:v>4.3911108756607056E-3</c:v>
                </c:pt>
                <c:pt idx="5">
                  <c:v>6.59574689528183E-3</c:v>
                </c:pt>
                <c:pt idx="6">
                  <c:v>9.2216365953950771E-3</c:v>
                </c:pt>
                <c:pt idx="7">
                  <c:v>1.226950409193516E-2</c:v>
                </c:pt>
                <c:pt idx="8">
                  <c:v>1.5742094501747288E-2</c:v>
                </c:pt>
                <c:pt idx="9">
                  <c:v>1.9643404198141576E-2</c:v>
                </c:pt>
                <c:pt idx="10">
                  <c:v>2.3978190710869488E-2</c:v>
                </c:pt>
                <c:pt idx="11">
                  <c:v>2.8751632831909284E-2</c:v>
                </c:pt>
                <c:pt idx="12">
                  <c:v>3.3969077523227809E-2</c:v>
                </c:pt>
                <c:pt idx="13">
                  <c:v>3.963583983111648E-2</c:v>
                </c:pt>
                <c:pt idx="14">
                  <c:v>4.5757036630424963E-2</c:v>
                </c:pt>
                <c:pt idx="15">
                  <c:v>5.2337442807224431E-2</c:v>
                </c:pt>
                <c:pt idx="16">
                  <c:v>5.9381362899556527E-2</c:v>
                </c:pt>
                <c:pt idx="17">
                  <c:v>6.689251385026021E-2</c:v>
                </c:pt>
                <c:pt idx="18">
                  <c:v>7.4873916173072139E-2</c:v>
                </c:pt>
                <c:pt idx="19">
                  <c:v>8.3327791906120816E-2</c:v>
                </c:pt>
                <c:pt idx="20">
                  <c:v>9.225546845169072E-2</c:v>
                </c:pt>
                <c:pt idx="21">
                  <c:v>0.10165728790638512</c:v>
                </c:pt>
                <c:pt idx="22">
                  <c:v>0.11153252184710787</c:v>
                </c:pt>
                <c:pt idx="23">
                  <c:v>0.121879291801072</c:v>
                </c:pt>
                <c:pt idx="24">
                  <c:v>0.13269449582019918</c:v>
                </c:pt>
                <c:pt idx="25">
                  <c:v>0.1439737417190684</c:v>
                </c:pt>
                <c:pt idx="26">
                  <c:v>0.15571128763182346</c:v>
                </c:pt>
                <c:pt idx="27">
                  <c:v>0.16789999060392072</c:v>
                </c:pt>
                <c:pt idx="28">
                  <c:v>0.18053126396358679</c:v>
                </c:pt>
                <c:pt idx="29">
                  <c:v>0.19359504421813564</c:v>
                </c:pt>
                <c:pt idx="30">
                  <c:v>0.20707976819379975</c:v>
                </c:pt>
                <c:pt idx="31">
                  <c:v>0.22097236108597995</c:v>
                </c:pt>
                <c:pt idx="32">
                  <c:v>0.23525823601124279</c:v>
                </c:pt>
                <c:pt idx="33">
                  <c:v>0.24992130555454758</c:v>
                </c:pt>
                <c:pt idx="34">
                  <c:v>0.26494400568689114</c:v>
                </c:pt>
                <c:pt idx="35">
                  <c:v>0.28030733229202826</c:v>
                </c:pt>
                <c:pt idx="36">
                  <c:v>0.29599089038877058</c:v>
                </c:pt>
                <c:pt idx="37">
                  <c:v>0.3119729559706747</c:v>
                </c:pt>
                <c:pt idx="38">
                  <c:v>0.32823055021117981</c:v>
                </c:pt>
                <c:pt idx="39">
                  <c:v>0.34473952560330512</c:v>
                </c:pt>
                <c:pt idx="40">
                  <c:v>0.36147466342302581</c:v>
                </c:pt>
                <c:pt idx="41">
                  <c:v>0.37840978172873418</c:v>
                </c:pt>
                <c:pt idx="42">
                  <c:v>0.3955178529401695</c:v>
                </c:pt>
                <c:pt idx="43">
                  <c:v>0.41277112988317816</c:v>
                </c:pt>
                <c:pt idx="44">
                  <c:v>0.43014127904576965</c:v>
                </c:pt>
                <c:pt idx="45">
                  <c:v>0.44759951966990336</c:v>
                </c:pt>
                <c:pt idx="46">
                  <c:v>0.46511676720556028</c:v>
                </c:pt>
                <c:pt idx="47">
                  <c:v>0.48266377958156775</c:v>
                </c:pt>
                <c:pt idx="48">
                  <c:v>0.50021130470332986</c:v>
                </c:pt>
                <c:pt idx="49">
                  <c:v>0.51773022757221721</c:v>
                </c:pt>
                <c:pt idx="50">
                  <c:v>0.53519171543530109</c:v>
                </c:pt>
                <c:pt idx="51">
                  <c:v>0.55256735941684421</c:v>
                </c:pt>
                <c:pt idx="52">
                  <c:v>0.56982931115327062</c:v>
                </c:pt>
                <c:pt idx="53">
                  <c:v>0.58695041304916351</c:v>
                </c:pt>
                <c:pt idx="54">
                  <c:v>0.60390432089049562</c:v>
                </c:pt>
                <c:pt idx="55">
                  <c:v>0.62066561768952877</c:v>
                </c:pt>
                <c:pt idx="56">
                  <c:v>0.63720991778991032</c:v>
                </c:pt>
                <c:pt idx="57">
                  <c:v>0.65351396042645149</c:v>
                </c:pt>
                <c:pt idx="58">
                  <c:v>0.66955569210772348</c:v>
                </c:pt>
                <c:pt idx="59">
                  <c:v>0.6853143373667715</c:v>
                </c:pt>
                <c:pt idx="60">
                  <c:v>0.70077045760186152</c:v>
                </c:pt>
                <c:pt idx="61">
                  <c:v>0.71590599790139142</c:v>
                </c:pt>
                <c:pt idx="62">
                  <c:v>0.73070432191145629</c:v>
                </c:pt>
                <c:pt idx="63">
                  <c:v>0.74515023495795973</c:v>
                </c:pt>
                <c:pt idx="64">
                  <c:v>0.75922999577506189</c:v>
                </c:pt>
                <c:pt idx="65">
                  <c:v>0.77293131731607734</c:v>
                </c:pt>
                <c:pt idx="66">
                  <c:v>0.78624335723017302</c:v>
                </c:pt>
                <c:pt idx="67">
                  <c:v>0.79915669867739092</c:v>
                </c:pt>
                <c:pt idx="68">
                  <c:v>0.8116633222251477</c:v>
                </c:pt>
                <c:pt idx="69">
                  <c:v>0.82375656962143207</c:v>
                </c:pt>
                <c:pt idx="70">
                  <c:v>0.8354311002738225</c:v>
                </c:pt>
                <c:pt idx="71">
                  <c:v>0.84668284127990223</c:v>
                </c:pt>
                <c:pt idx="72">
                  <c:v>0.8575089318546445</c:v>
                </c:pt>
                <c:pt idx="73">
                  <c:v>0.86790766298503563</c:v>
                </c:pt>
                <c:pt idx="74">
                  <c:v>0.87787841311284764</c:v>
                </c:pt>
                <c:pt idx="75">
                  <c:v>0.88742158060429333</c:v>
                </c:pt>
                <c:pt idx="76">
                  <c:v>0.8965385137114521</c:v>
                </c:pt>
                <c:pt idx="77">
                  <c:v>0.90523143866571965</c:v>
                </c:pt>
                <c:pt idx="78">
                  <c:v>0.91350338646871598</c:v>
                </c:pt>
                <c:pt idx="79">
                  <c:v>0.92135811886107977</c:v>
                </c:pt>
                <c:pt idx="80">
                  <c:v>0.92880005385374509</c:v>
                </c:pt>
                <c:pt idx="81">
                  <c:v>0.93583419109786947</c:v>
                </c:pt>
                <c:pt idx="82">
                  <c:v>0.94246603724537859</c:v>
                </c:pt>
                <c:pt idx="83">
                  <c:v>0.94870153130666945</c:v>
                </c:pt>
                <c:pt idx="84">
                  <c:v>0.95454696983668186</c:v>
                </c:pt>
                <c:pt idx="85">
                  <c:v>0.96000893156149247</c:v>
                </c:pt>
                <c:pt idx="86">
                  <c:v>0.9650942007728126</c:v>
                </c:pt>
                <c:pt idx="87">
                  <c:v>0.96980968843192994</c:v>
                </c:pt>
                <c:pt idx="88">
                  <c:v>0.97416234937951396</c:v>
                </c:pt>
                <c:pt idx="89">
                  <c:v>0.9781590932449391</c:v>
                </c:pt>
                <c:pt idx="90">
                  <c:v>0.98180668541635296</c:v>
                </c:pt>
                <c:pt idx="91">
                  <c:v>0.98511163245750077</c:v>
                </c:pt>
                <c:pt idx="92">
                  <c:v>0.98808004304158914</c:v>
                </c:pt>
                <c:pt idx="93">
                  <c:v>0.99071744960839725</c:v>
                </c:pt>
                <c:pt idx="94">
                  <c:v>0.99302856492436775</c:v>
                </c:pt>
                <c:pt idx="95">
                  <c:v>0.99501692537591535</c:v>
                </c:pt>
                <c:pt idx="96">
                  <c:v>0.99668432296698561</c:v>
                </c:pt>
                <c:pt idx="97">
                  <c:v>0.99802980143689812</c:v>
                </c:pt>
                <c:pt idx="98">
                  <c:v>0.99904760452192265</c:v>
                </c:pt>
                <c:pt idx="99">
                  <c:v>0.99972184527963071</c:v>
                </c:pt>
                <c:pt idx="100">
                  <c:v>0.99999855774966284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5D9-5C4A-B05C-DA39862CDA0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30 days</c:v>
                </c:pt>
              </c:strCache>
            </c:strRef>
          </c:tx>
          <c:spPr>
            <a:ln w="31750" cap="flat">
              <a:solidFill>
                <a:srgbClr val="A31F34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Sheet1!$C$2:$C$102</c:f>
              <c:numCache>
                <c:formatCode>General</c:formatCode>
                <c:ptCount val="101"/>
                <c:pt idx="0">
                  <c:v>2.4230205247438273E-6</c:v>
                </c:pt>
                <c:pt idx="1">
                  <c:v>4.2952907530313938E-4</c:v>
                </c:pt>
                <c:pt idx="2">
                  <c:v>1.4415318508475279E-3</c:v>
                </c:pt>
                <c:pt idx="3">
                  <c:v>2.9461132956917933E-3</c:v>
                </c:pt>
                <c:pt idx="4">
                  <c:v>4.9137757652320604E-3</c:v>
                </c:pt>
                <c:pt idx="5">
                  <c:v>7.331123581937932E-3</c:v>
                </c:pt>
                <c:pt idx="6">
                  <c:v>1.0192126523242711E-2</c:v>
                </c:pt>
                <c:pt idx="7">
                  <c:v>1.3494779108043012E-2</c:v>
                </c:pt>
                <c:pt idx="8">
                  <c:v>1.7239470251265192E-2</c:v>
                </c:pt>
                <c:pt idx="9">
                  <c:v>2.1428060917617234E-2</c:v>
                </c:pt>
                <c:pt idx="10">
                  <c:v>2.6063304328371006E-2</c:v>
                </c:pt>
                <c:pt idx="11">
                  <c:v>3.1148450187026121E-2</c:v>
                </c:pt>
                <c:pt idx="12">
                  <c:v>3.6686955552015059E-2</c:v>
                </c:pt>
                <c:pt idx="13">
                  <c:v>4.2682261237942873E-2</c:v>
                </c:pt>
                <c:pt idx="14">
                  <c:v>4.9137610461648946E-2</c:v>
                </c:pt>
                <c:pt idx="15">
                  <c:v>5.6055895910859181E-2</c:v>
                </c:pt>
                <c:pt idx="16">
                  <c:v>6.3439526749752187E-2</c:v>
                </c:pt>
                <c:pt idx="17">
                  <c:v>7.1290310244090327E-2</c:v>
                </c:pt>
                <c:pt idx="18">
                  <c:v>7.9609344653948297E-2</c:v>
                </c:pt>
                <c:pt idx="19">
                  <c:v>8.8396921308359244E-2</c:v>
                </c:pt>
                <c:pt idx="20">
                  <c:v>9.7652434619068418E-2</c:v>
                </c:pt>
                <c:pt idx="21">
                  <c:v>0.10737429936692917</c:v>
                </c:pt>
                <c:pt idx="22">
                  <c:v>0.11755987499659062</c:v>
                </c:pt>
                <c:pt idx="23">
                  <c:v>0.12820539693883004</c:v>
                </c:pt>
                <c:pt idx="24">
                  <c:v>0.13930591517972057</c:v>
                </c:pt>
                <c:pt idx="25">
                  <c:v>0.15085524043359219</c:v>
                </c:pt>
                <c:pt idx="26">
                  <c:v>0.16284589836645283</c:v>
                </c:pt>
                <c:pt idx="27">
                  <c:v>0.17526909236736252</c:v>
                </c:pt>
                <c:pt idx="28">
                  <c:v>0.18811467538336876</c:v>
                </c:pt>
                <c:pt idx="29">
                  <c:v>0.20137113132334047</c:v>
                </c:pt>
                <c:pt idx="30">
                  <c:v>0.215025566500612</c:v>
                </c:pt>
                <c:pt idx="31">
                  <c:v>0.22906371152639154</c:v>
                </c:pt>
                <c:pt idx="32">
                  <c:v>0.24346993398776778</c:v>
                </c:pt>
                <c:pt idx="33">
                  <c:v>0.25822726214817465</c:v>
                </c:pt>
                <c:pt idx="34">
                  <c:v>0.27331741979676827</c:v>
                </c:pt>
                <c:pt idx="35">
                  <c:v>0.28872087224893711</c:v>
                </c:pt>
                <c:pt idx="36">
                  <c:v>0.30441688336591954</c:v>
                </c:pt>
                <c:pt idx="37">
                  <c:v>0.32038358332031086</c:v>
                </c:pt>
                <c:pt idx="38">
                  <c:v>0.33659804668936466</c:v>
                </c:pt>
                <c:pt idx="39">
                  <c:v>0.3530363803128157</c:v>
                </c:pt>
                <c:pt idx="40">
                  <c:v>0.36967382021000145</c:v>
                </c:pt>
                <c:pt idx="41">
                  <c:v>0.38648483671578576</c:v>
                </c:pt>
                <c:pt idx="42">
                  <c:v>0.40344324686959826</c:v>
                </c:pt>
                <c:pt idx="43">
                  <c:v>0.42052233297996139</c:v>
                </c:pt>
                <c:pt idx="44">
                  <c:v>0.43769496619109188</c:v>
                </c:pt>
                <c:pt idx="45">
                  <c:v>0.45493373380098029</c:v>
                </c:pt>
                <c:pt idx="46">
                  <c:v>0.47221106902382987</c:v>
                </c:pt>
                <c:pt idx="47">
                  <c:v>0.48949938185530806</c:v>
                </c:pt>
                <c:pt idx="48">
                  <c:v>0.50677118968761325</c:v>
                </c:pt>
                <c:pt idx="49">
                  <c:v>0.52399924633314721</c:v>
                </c:pt>
                <c:pt idx="50">
                  <c:v>0.54115666815022812</c:v>
                </c:pt>
                <c:pt idx="51">
                  <c:v>0.55821705602079996</c:v>
                </c:pt>
                <c:pt idx="52">
                  <c:v>0.57515461200695417</c:v>
                </c:pt>
                <c:pt idx="53">
                  <c:v>0.5919442496082099</c:v>
                </c:pt>
                <c:pt idx="54">
                  <c:v>0.6085616966524322</c:v>
                </c:pt>
                <c:pt idx="55">
                  <c:v>0.62498358997715986</c:v>
                </c:pt>
                <c:pt idx="56">
                  <c:v>0.64118756119192311</c:v>
                </c:pt>
                <c:pt idx="57">
                  <c:v>0.65715231295264454</c:v>
                </c:pt>
                <c:pt idx="58">
                  <c:v>0.67285768532319934</c:v>
                </c:pt>
                <c:pt idx="59">
                  <c:v>0.68828471194351648</c:v>
                </c:pt>
                <c:pt idx="60">
                  <c:v>0.70341566586520476</c:v>
                </c:pt>
                <c:pt idx="61">
                  <c:v>0.7182340950518239</c:v>
                </c:pt>
                <c:pt idx="62">
                  <c:v>0.73272484766912815</c:v>
                </c:pt>
                <c:pt idx="63">
                  <c:v>0.7468740874087596</c:v>
                </c:pt>
                <c:pt idx="64">
                  <c:v>0.76066929919523008</c:v>
                </c:pt>
                <c:pt idx="65">
                  <c:v>0.774099285719276</c:v>
                </c:pt>
                <c:pt idx="66">
                  <c:v>0.78715415531984312</c:v>
                </c:pt>
                <c:pt idx="67">
                  <c:v>0.79982530180152811</c:v>
                </c:pt>
                <c:pt idx="68">
                  <c:v>0.81210537682406203</c:v>
                </c:pt>
                <c:pt idx="69">
                  <c:v>0.82398825553548749</c:v>
                </c:pt>
                <c:pt idx="70">
                  <c:v>0.83546899614146652</c:v>
                </c:pt>
                <c:pt idx="71">
                  <c:v>0.84654379411023706</c:v>
                </c:pt>
                <c:pt idx="72">
                  <c:v>0.85720993170691173</c:v>
                </c:pt>
                <c:pt idx="73">
                  <c:v>0.86746572353288776</c:v>
                </c:pt>
                <c:pt idx="74">
                  <c:v>0.87731045871700708</c:v>
                </c:pt>
                <c:pt idx="75">
                  <c:v>0.88674434036553873</c:v>
                </c:pt>
                <c:pt idx="76">
                  <c:v>0.89576842282871627</c:v>
                </c:pt>
                <c:pt idx="77">
                  <c:v>0.90438454728279871</c:v>
                </c:pt>
                <c:pt idx="78">
                  <c:v>0.91259527605846613</c:v>
                </c:pt>
                <c:pt idx="79">
                  <c:v>0.92040382606819604</c:v>
                </c:pt>
                <c:pt idx="80">
                  <c:v>0.92781400159576943</c:v>
                </c:pt>
                <c:pt idx="81">
                  <c:v>0.93483012660767528</c:v>
                </c:pt>
                <c:pt idx="82">
                  <c:v>0.94145697662478978</c:v>
                </c:pt>
                <c:pt idx="83">
                  <c:v>0.94769971004664899</c:v>
                </c:pt>
                <c:pt idx="84">
                  <c:v>0.95356379863956509</c:v>
                </c:pt>
                <c:pt idx="85">
                  <c:v>0.95905495666754315</c:v>
                </c:pt>
                <c:pt idx="86">
                  <c:v>0.96417906783589991</c:v>
                </c:pt>
                <c:pt idx="87">
                  <c:v>0.96894210879060128</c:v>
                </c:pt>
                <c:pt idx="88">
                  <c:v>0.97335006730424434</c:v>
                </c:pt>
                <c:pt idx="89">
                  <c:v>0.97740885236821839</c:v>
                </c:pt>
                <c:pt idx="90">
                  <c:v>0.98112419200025813</c:v>
                </c:pt>
                <c:pt idx="91">
                  <c:v>0.98450151230326144</c:v>
                </c:pt>
                <c:pt idx="92">
                  <c:v>0.98754578747845123</c:v>
                </c:pt>
                <c:pt idx="93">
                  <c:v>0.99026134369337437</c:v>
                </c:pt>
                <c:pt idx="94">
                  <c:v>0.99265158687251065</c:v>
                </c:pt>
                <c:pt idx="95">
                  <c:v>0.99471859838245469</c:v>
                </c:pt>
                <c:pt idx="96">
                  <c:v>0.99646248415665051</c:v>
                </c:pt>
                <c:pt idx="97">
                  <c:v>0.99788021387249681</c:v>
                </c:pt>
                <c:pt idx="98">
                  <c:v>0.99896322846043017</c:v>
                </c:pt>
                <c:pt idx="99">
                  <c:v>0.99969116406767089</c:v>
                </c:pt>
                <c:pt idx="100">
                  <c:v>0.99999825803185183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55D9-5C4A-B05C-DA39862CDA0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45–60 days</c:v>
                </c:pt>
              </c:strCache>
            </c:strRef>
          </c:tx>
          <c:spPr>
            <a:ln w="31750" cap="flat">
              <a:solidFill>
                <a:srgbClr val="D99AA6"/>
              </a:solidFill>
              <a:prstDash val="solid"/>
              <a:round/>
            </a:ln>
            <a:effectLst/>
          </c:spPr>
          <c:marker>
            <c:symbol val="none"/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Sheet1!$D$2:$D$102</c:f>
              <c:numCache>
                <c:formatCode>General</c:formatCode>
                <c:ptCount val="101"/>
                <c:pt idx="0">
                  <c:v>7.1090989716630954E-11</c:v>
                </c:pt>
                <c:pt idx="1">
                  <c:v>8.7284192954544515E-7</c:v>
                </c:pt>
                <c:pt idx="2">
                  <c:v>7.904479779671088E-6</c:v>
                </c:pt>
                <c:pt idx="3">
                  <c:v>2.9074581011973128E-5</c:v>
                </c:pt>
                <c:pt idx="4">
                  <c:v>7.3965142845899281E-5</c:v>
                </c:pt>
                <c:pt idx="5">
                  <c:v>1.5376561442998653E-4</c:v>
                </c:pt>
                <c:pt idx="6">
                  <c:v>2.8136957340109804E-4</c:v>
                </c:pt>
                <c:pt idx="7">
                  <c:v>4.7151042932125066E-4</c:v>
                </c:pt>
                <c:pt idx="8">
                  <c:v>7.4092255005039898E-4</c:v>
                </c:pt>
                <c:pt idx="9">
                  <c:v>1.1085223460041284E-3</c:v>
                </c:pt>
                <c:pt idx="10">
                  <c:v>1.5956063129882012E-3</c:v>
                </c:pt>
                <c:pt idx="11">
                  <c:v>2.2260637187230398E-3</c:v>
                </c:pt>
                <c:pt idx="12">
                  <c:v>3.0266015277922438E-3</c:v>
                </c:pt>
                <c:pt idx="13">
                  <c:v>4.0269786149463504E-3</c:v>
                </c:pt>
                <c:pt idx="14">
                  <c:v>5.2602454243334878E-3</c:v>
                </c:pt>
                <c:pt idx="15">
                  <c:v>6.7629840205863994E-3</c:v>
                </c:pt>
                <c:pt idx="16">
                  <c:v>8.5755419438451191E-3</c:v>
                </c:pt>
                <c:pt idx="17">
                  <c:v>1.0742251411332664E-2</c:v>
                </c:pt>
                <c:pt idx="18">
                  <c:v>1.3311623191350009E-2</c:v>
                </c:pt>
                <c:pt idx="19">
                  <c:v>1.6336501911640808E-2</c:v>
                </c:pt>
                <c:pt idx="20">
                  <c:v>1.9874166675502573E-2</c:v>
                </c:pt>
                <c:pt idx="21">
                  <c:v>2.3986357702948182E-2</c:v>
                </c:pt>
                <c:pt idx="22">
                  <c:v>2.8739206396875772E-2</c:v>
                </c:pt>
                <c:pt idx="23">
                  <c:v>3.4203042927277383E-2</c:v>
                </c:pt>
                <c:pt idx="24">
                  <c:v>4.0452052384637997E-2</c:v>
                </c:pt>
                <c:pt idx="25">
                  <c:v>4.7563748131064669E-2</c:v>
                </c:pt>
                <c:pt idx="26">
                  <c:v>5.561822964084167E-2</c:v>
                </c:pt>
                <c:pt idx="27">
                  <c:v>6.4697192453775837E-2</c:v>
                </c:pt>
                <c:pt idx="28">
                  <c:v>7.4882660552825595E-2</c:v>
                </c:pt>
                <c:pt idx="29">
                  <c:v>8.6255417281359631E-2</c:v>
                </c:pt>
                <c:pt idx="30">
                  <c:v>9.8893120600612075E-2</c:v>
                </c:pt>
                <c:pt idx="31">
                  <c:v>0.11286810272324878</c:v>
                </c:pt>
                <c:pt idx="32">
                  <c:v>0.12824487337150095</c:v>
                </c:pt>
                <c:pt idx="33">
                  <c:v>0.14507737010117472</c:v>
                </c:pt>
                <c:pt idx="34">
                  <c:v>0.16340602768154122</c:v>
                </c:pt>
                <c:pt idx="35">
                  <c:v>0.18325476997985604</c:v>
                </c:pt>
                <c:pt idx="36">
                  <c:v>0.20462805976512105</c:v>
                </c:pt>
                <c:pt idx="37">
                  <c:v>0.22750817094197232</c:v>
                </c:pt>
                <c:pt idx="38">
                  <c:v>0.25185286976836979</c:v>
                </c:pt>
                <c:pt idx="39">
                  <c:v>0.27759370200807176</c:v>
                </c:pt>
                <c:pt idx="40">
                  <c:v>0.30463507736254769</c:v>
                </c:pt>
                <c:pt idx="41">
                  <c:v>0.33285431762576767</c:v>
                </c:pt>
                <c:pt idx="42">
                  <c:v>0.36210278948170616</c:v>
                </c:pt>
                <c:pt idx="43">
                  <c:v>0.39220817811904041</c:v>
                </c:pt>
                <c:pt idx="44">
                  <c:v>0.42297787840210804</c:v>
                </c:pt>
                <c:pt idx="45">
                  <c:v>0.45420339371598883</c:v>
                </c:pt>
                <c:pt idx="46">
                  <c:v>0.48566554845701881</c:v>
                </c:pt>
                <c:pt idx="47">
                  <c:v>0.51714024887605803</c:v>
                </c:pt>
                <c:pt idx="48">
                  <c:v>0.54840447800074787</c:v>
                </c:pt>
                <c:pt idx="49">
                  <c:v>0.5792421903353423</c:v>
                </c:pt>
                <c:pt idx="50">
                  <c:v>0.60944978362832514</c:v>
                </c:pt>
                <c:pt idx="51">
                  <c:v>0.63884086636517112</c:v>
                </c:pt>
                <c:pt idx="52">
                  <c:v>0.66725010482620051</c:v>
                </c:pt>
                <c:pt idx="53">
                  <c:v>0.69453601365389861</c:v>
                </c:pt>
                <c:pt idx="54">
                  <c:v>0.72058263873800277</c:v>
                </c:pt>
                <c:pt idx="55">
                  <c:v>0.74530016116019515</c:v>
                </c:pt>
                <c:pt idx="56">
                  <c:v>0.76862451816316424</c:v>
                </c:pt>
                <c:pt idx="57">
                  <c:v>0.7905161866299043</c:v>
                </c:pt>
                <c:pt idx="58">
                  <c:v>0.81095830441719274</c:v>
                </c:pt>
                <c:pt idx="59">
                  <c:v>0.8299543158335777</c:v>
                </c:pt>
                <c:pt idx="60">
                  <c:v>0.84752532236018296</c:v>
                </c:pt>
                <c:pt idx="61">
                  <c:v>0.86370730233226223</c:v>
                </c:pt>
                <c:pt idx="62">
                  <c:v>0.87854833805050003</c:v>
                </c:pt>
                <c:pt idx="63">
                  <c:v>0.89210595972241558</c:v>
                </c:pt>
                <c:pt idx="64">
                  <c:v>0.90444468610781659</c:v>
                </c:pt>
                <c:pt idx="65">
                  <c:v>0.91563381423791834</c:v>
                </c:pt>
                <c:pt idx="66">
                  <c:v>0.92574548667769185</c:v>
                </c:pt>
                <c:pt idx="67">
                  <c:v>0.93485304529518043</c:v>
                </c:pt>
                <c:pt idx="68">
                  <c:v>0.94302966555642775</c:v>
                </c:pt>
                <c:pt idx="69">
                  <c:v>0.95034725470932979</c:v>
                </c:pt>
                <c:pt idx="70">
                  <c:v>0.95687559031730096</c:v>
                </c:pt>
                <c:pt idx="71">
                  <c:v>0.96268167179172781</c:v>
                </c:pt>
                <c:pt idx="72">
                  <c:v>0.96782925616596682</c:v>
                </c:pt>
                <c:pt idx="73">
                  <c:v>0.97237854971379822</c:v>
                </c:pt>
                <c:pt idx="74">
                  <c:v>0.97638602858625434</c:v>
                </c:pt>
                <c:pt idx="75">
                  <c:v>0.97990436396680125</c:v>
                </c:pt>
                <c:pt idx="76">
                  <c:v>0.9829824299707135</c:v>
                </c:pt>
                <c:pt idx="77">
                  <c:v>0.98566537537685428</c:v>
                </c:pt>
                <c:pt idx="78">
                  <c:v>0.98799474309434598</c:v>
                </c:pt>
                <c:pt idx="79">
                  <c:v>0.99000862391199607</c:v>
                </c:pt>
                <c:pt idx="80">
                  <c:v>0.99174183348353573</c:v>
                </c:pt>
                <c:pt idx="81">
                  <c:v>0.99322610363202668</c:v>
                </c:pt>
                <c:pt idx="82">
                  <c:v>0.99449028090341707</c:v>
                </c:pt>
                <c:pt idx="83">
                  <c:v>0.99556052687070284</c:v>
                </c:pt>
                <c:pt idx="84">
                  <c:v>0.99646051600571295</c:v>
                </c:pt>
                <c:pt idx="85">
                  <c:v>0.99721162802023844</c:v>
                </c:pt>
                <c:pt idx="86">
                  <c:v>0.99783313245955707</c:v>
                </c:pt>
                <c:pt idx="87">
                  <c:v>0.99834236403678522</c:v>
                </c:pt>
                <c:pt idx="88">
                  <c:v>0.99875488775190702</c:v>
                </c:pt>
                <c:pt idx="89">
                  <c:v>0.99908465326819973</c:v>
                </c:pt>
                <c:pt idx="90">
                  <c:v>0.99934413834145519</c:v>
                </c:pt>
                <c:pt idx="91">
                  <c:v>0.99954448133063478</c:v>
                </c:pt>
                <c:pt idx="92">
                  <c:v>0.99969560297494708</c:v>
                </c:pt>
                <c:pt idx="93">
                  <c:v>0.99980631770890216</c:v>
                </c:pt>
                <c:pt idx="94">
                  <c:v>0.99988443480260336</c:v>
                </c:pt>
                <c:pt idx="95">
                  <c:v>0.9999368495431088</c:v>
                </c:pt>
                <c:pt idx="96">
                  <c:v>0.99996962446448923</c:v>
                </c:pt>
                <c:pt idx="97">
                  <c:v>0.99998806015146013</c:v>
                </c:pt>
                <c:pt idx="98">
                  <c:v>0.99999675396478438</c:v>
                </c:pt>
                <c:pt idx="99">
                  <c:v>0.99999964156225596</c:v>
                </c:pt>
                <c:pt idx="100">
                  <c:v>0.99999999997080602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5D9-5C4A-B05C-DA39862CDA0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Calibrated</c:v>
                </c:pt>
              </c:strCache>
            </c:strRef>
          </c:tx>
          <c:spPr>
            <a:ln w="31750" cap="flat">
              <a:solidFill>
                <a:srgbClr val="9AA0A6"/>
              </a:solidFill>
              <a:prstDash val="sysDash"/>
              <a:round/>
            </a:ln>
            <a:effectLst/>
          </c:spPr>
          <c:marker>
            <c:symbol val="none"/>
          </c:marker>
          <c:xVal>
            <c:numRef>
              <c:f>Sheet1!$A$2:$A$102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xVal>
          <c:yVal>
            <c:numRef>
              <c:f>Sheet1!$E$2:$E$102</c:f>
              <c:numCache>
                <c:formatCode>General</c:formatCode>
                <c:ptCount val="101"/>
                <c:pt idx="0">
                  <c:v>0</c:v>
                </c:pt>
                <c:pt idx="1">
                  <c:v>0.01</c:v>
                </c:pt>
                <c:pt idx="2">
                  <c:v>0.02</c:v>
                </c:pt>
                <c:pt idx="3">
                  <c:v>0.03</c:v>
                </c:pt>
                <c:pt idx="4">
                  <c:v>0.04</c:v>
                </c:pt>
                <c:pt idx="5">
                  <c:v>0.05</c:v>
                </c:pt>
                <c:pt idx="6">
                  <c:v>0.06</c:v>
                </c:pt>
                <c:pt idx="7">
                  <c:v>7.0000000000000007E-2</c:v>
                </c:pt>
                <c:pt idx="8">
                  <c:v>0.08</c:v>
                </c:pt>
                <c:pt idx="9">
                  <c:v>0.09</c:v>
                </c:pt>
                <c:pt idx="10">
                  <c:v>0.1</c:v>
                </c:pt>
                <c:pt idx="11">
                  <c:v>0.11</c:v>
                </c:pt>
                <c:pt idx="12">
                  <c:v>0.12</c:v>
                </c:pt>
                <c:pt idx="13">
                  <c:v>0.13</c:v>
                </c:pt>
                <c:pt idx="14">
                  <c:v>0.14000000000000001</c:v>
                </c:pt>
                <c:pt idx="15">
                  <c:v>0.15</c:v>
                </c:pt>
                <c:pt idx="16">
                  <c:v>0.16</c:v>
                </c:pt>
                <c:pt idx="17">
                  <c:v>0.17</c:v>
                </c:pt>
                <c:pt idx="18">
                  <c:v>0.18</c:v>
                </c:pt>
                <c:pt idx="19">
                  <c:v>0.19</c:v>
                </c:pt>
                <c:pt idx="20">
                  <c:v>0.2</c:v>
                </c:pt>
                <c:pt idx="21">
                  <c:v>0.21</c:v>
                </c:pt>
                <c:pt idx="22">
                  <c:v>0.22</c:v>
                </c:pt>
                <c:pt idx="23">
                  <c:v>0.23</c:v>
                </c:pt>
                <c:pt idx="24">
                  <c:v>0.24</c:v>
                </c:pt>
                <c:pt idx="25">
                  <c:v>0.25</c:v>
                </c:pt>
                <c:pt idx="26">
                  <c:v>0.26</c:v>
                </c:pt>
                <c:pt idx="27">
                  <c:v>0.27</c:v>
                </c:pt>
                <c:pt idx="28">
                  <c:v>0.28000000000000003</c:v>
                </c:pt>
                <c:pt idx="29">
                  <c:v>0.28999999999999998</c:v>
                </c:pt>
                <c:pt idx="30">
                  <c:v>0.3</c:v>
                </c:pt>
                <c:pt idx="31">
                  <c:v>0.31</c:v>
                </c:pt>
                <c:pt idx="32">
                  <c:v>0.32</c:v>
                </c:pt>
                <c:pt idx="33">
                  <c:v>0.33</c:v>
                </c:pt>
                <c:pt idx="34">
                  <c:v>0.34</c:v>
                </c:pt>
                <c:pt idx="35">
                  <c:v>0.35</c:v>
                </c:pt>
                <c:pt idx="36">
                  <c:v>0.36</c:v>
                </c:pt>
                <c:pt idx="37">
                  <c:v>0.37</c:v>
                </c:pt>
                <c:pt idx="38">
                  <c:v>0.38</c:v>
                </c:pt>
                <c:pt idx="39">
                  <c:v>0.39</c:v>
                </c:pt>
                <c:pt idx="40">
                  <c:v>0.4</c:v>
                </c:pt>
                <c:pt idx="41">
                  <c:v>0.41</c:v>
                </c:pt>
                <c:pt idx="42">
                  <c:v>0.42</c:v>
                </c:pt>
                <c:pt idx="43">
                  <c:v>0.43</c:v>
                </c:pt>
                <c:pt idx="44">
                  <c:v>0.44</c:v>
                </c:pt>
                <c:pt idx="45">
                  <c:v>0.45</c:v>
                </c:pt>
                <c:pt idx="46">
                  <c:v>0.46</c:v>
                </c:pt>
                <c:pt idx="47">
                  <c:v>0.47</c:v>
                </c:pt>
                <c:pt idx="48">
                  <c:v>0.48</c:v>
                </c:pt>
                <c:pt idx="49">
                  <c:v>0.49</c:v>
                </c:pt>
                <c:pt idx="50">
                  <c:v>0.5</c:v>
                </c:pt>
                <c:pt idx="51">
                  <c:v>0.51</c:v>
                </c:pt>
                <c:pt idx="52">
                  <c:v>0.52</c:v>
                </c:pt>
                <c:pt idx="53">
                  <c:v>0.53</c:v>
                </c:pt>
                <c:pt idx="54">
                  <c:v>0.54</c:v>
                </c:pt>
                <c:pt idx="55">
                  <c:v>0.55000000000000004</c:v>
                </c:pt>
                <c:pt idx="56">
                  <c:v>0.56000000000000005</c:v>
                </c:pt>
                <c:pt idx="57">
                  <c:v>0.56999999999999995</c:v>
                </c:pt>
                <c:pt idx="58">
                  <c:v>0.57999999999999996</c:v>
                </c:pt>
                <c:pt idx="59">
                  <c:v>0.59</c:v>
                </c:pt>
                <c:pt idx="60">
                  <c:v>0.6</c:v>
                </c:pt>
                <c:pt idx="61">
                  <c:v>0.61</c:v>
                </c:pt>
                <c:pt idx="62">
                  <c:v>0.62</c:v>
                </c:pt>
                <c:pt idx="63">
                  <c:v>0.63</c:v>
                </c:pt>
                <c:pt idx="64">
                  <c:v>0.64</c:v>
                </c:pt>
                <c:pt idx="65">
                  <c:v>0.65</c:v>
                </c:pt>
                <c:pt idx="66">
                  <c:v>0.66</c:v>
                </c:pt>
                <c:pt idx="67">
                  <c:v>0.67</c:v>
                </c:pt>
                <c:pt idx="68">
                  <c:v>0.68</c:v>
                </c:pt>
                <c:pt idx="69">
                  <c:v>0.69</c:v>
                </c:pt>
                <c:pt idx="70">
                  <c:v>0.7</c:v>
                </c:pt>
                <c:pt idx="71">
                  <c:v>0.71</c:v>
                </c:pt>
                <c:pt idx="72">
                  <c:v>0.72</c:v>
                </c:pt>
                <c:pt idx="73">
                  <c:v>0.73</c:v>
                </c:pt>
                <c:pt idx="74">
                  <c:v>0.74</c:v>
                </c:pt>
                <c:pt idx="75">
                  <c:v>0.75</c:v>
                </c:pt>
                <c:pt idx="76">
                  <c:v>0.76</c:v>
                </c:pt>
                <c:pt idx="77">
                  <c:v>0.77</c:v>
                </c:pt>
                <c:pt idx="78">
                  <c:v>0.78</c:v>
                </c:pt>
                <c:pt idx="79">
                  <c:v>0.79</c:v>
                </c:pt>
                <c:pt idx="80">
                  <c:v>0.8</c:v>
                </c:pt>
                <c:pt idx="81">
                  <c:v>0.81</c:v>
                </c:pt>
                <c:pt idx="82">
                  <c:v>0.82</c:v>
                </c:pt>
                <c:pt idx="83">
                  <c:v>0.83</c:v>
                </c:pt>
                <c:pt idx="84">
                  <c:v>0.84</c:v>
                </c:pt>
                <c:pt idx="85">
                  <c:v>0.85</c:v>
                </c:pt>
                <c:pt idx="86">
                  <c:v>0.86</c:v>
                </c:pt>
                <c:pt idx="87">
                  <c:v>0.87</c:v>
                </c:pt>
                <c:pt idx="88">
                  <c:v>0.88</c:v>
                </c:pt>
                <c:pt idx="89">
                  <c:v>0.89</c:v>
                </c:pt>
                <c:pt idx="90">
                  <c:v>0.9</c:v>
                </c:pt>
                <c:pt idx="91">
                  <c:v>0.91</c:v>
                </c:pt>
                <c:pt idx="92">
                  <c:v>0.92</c:v>
                </c:pt>
                <c:pt idx="93">
                  <c:v>0.93</c:v>
                </c:pt>
                <c:pt idx="94">
                  <c:v>0.94</c:v>
                </c:pt>
                <c:pt idx="95">
                  <c:v>0.95</c:v>
                </c:pt>
                <c:pt idx="96">
                  <c:v>0.96</c:v>
                </c:pt>
                <c:pt idx="97">
                  <c:v>0.97</c:v>
                </c:pt>
                <c:pt idx="98">
                  <c:v>0.98</c:v>
                </c:pt>
                <c:pt idx="99">
                  <c:v>0.99</c:v>
                </c:pt>
                <c:pt idx="100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55D9-5C4A-B05C-DA39862CDA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E2126"/>
                    </a:solidFill>
                    <a:latin typeface="+mn-lt"/>
                  </a:defRPr>
                </a:pPr>
                <a:r>
                  <a:rPr lang="en-GB" sz="1400" b="0" i="0" u="none" strike="noStrike">
                    <a:solidFill>
                      <a:srgbClr val="1E2126"/>
                    </a:solidFill>
                    <a:latin typeface="+mn-lt"/>
                  </a:rPr>
                  <a:t>Forecast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crossBetween val="midCat"/>
        <c:majorUnit val="0.2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E2126"/>
                    </a:solidFill>
                    <a:latin typeface="+mn-lt"/>
                  </a:defRPr>
                </a:pPr>
                <a:r>
                  <a:rPr lang="en-GB" sz="1400" b="0" i="0" u="none" strike="noStrike">
                    <a:solidFill>
                      <a:srgbClr val="1E2126"/>
                    </a:solidFill>
                    <a:latin typeface="+mn-lt"/>
                  </a:rPr>
                  <a:t>Fitted P(YES)</a:t>
                </a:r>
              </a:p>
            </c:rich>
          </c:tx>
          <c:overlay val="0"/>
        </c:title>
        <c:numFmt formatCode="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0.2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1E212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Probability</c:v>
                </c:pt>
              </c:strCache>
            </c:strRef>
          </c:tx>
          <c:spPr>
            <a:solidFill>
              <a:srgbClr val="4B5058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1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Cut 50+</c:v>
                </c:pt>
                <c:pt idx="1">
                  <c:v>Cut 25</c:v>
                </c:pt>
                <c:pt idx="2">
                  <c:v>Hold</c:v>
                </c:pt>
                <c:pt idx="3">
                  <c:v>Hike 25</c:v>
                </c:pt>
                <c:pt idx="4">
                  <c:v>Hike 50+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0.09</c:v>
                </c:pt>
                <c:pt idx="1">
                  <c:v>0.91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87-6243-92DE-CC3B7F1B91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Kalshi</c:v>
                </c:pt>
              </c:strCache>
            </c:strRef>
          </c:tx>
          <c:spPr>
            <a:ln w="31750" cap="flat">
              <a:solidFill>
                <a:srgbClr val="A31F34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A31F34"/>
              </a:solidFill>
              <a:ln w="9525" cap="flat">
                <a:solidFill>
                  <a:srgbClr val="A31F3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7</c:v>
                </c:pt>
                <c:pt idx="2">
                  <c:v>21</c:v>
                </c:pt>
                <c:pt idx="3">
                  <c:v>30</c:v>
                </c:pt>
                <c:pt idx="4">
                  <c:v>45</c:v>
                </c:pt>
                <c:pt idx="5">
                  <c:v>60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4.4000000000000003E-3</c:v>
                </c:pt>
                <c:pt idx="1">
                  <c:v>1.9099999999999999E-2</c:v>
                </c:pt>
                <c:pt idx="2">
                  <c:v>3.8300000000000001E-2</c:v>
                </c:pt>
                <c:pt idx="3">
                  <c:v>3.9199999999999999E-2</c:v>
                </c:pt>
                <c:pt idx="4">
                  <c:v>3.1E-2</c:v>
                </c:pt>
                <c:pt idx="5">
                  <c:v>7.5499999999999998E-2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811-2F4A-9DF1-EE73603C005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Futures</c:v>
                </c:pt>
              </c:strCache>
            </c:strRef>
          </c:tx>
          <c:spPr>
            <a:ln w="31750" cap="flat">
              <a:solidFill>
                <a:srgbClr val="4B5058"/>
              </a:solidFill>
              <a:prstDash val="dash"/>
              <a:round/>
            </a:ln>
            <a:effectLst/>
          </c:spPr>
          <c:marker>
            <c:symbol val="circle"/>
            <c:size val="8"/>
            <c:spPr>
              <a:solidFill>
                <a:srgbClr val="4B5058"/>
              </a:solidFill>
              <a:ln w="9525" cap="flat">
                <a:solidFill>
                  <a:srgbClr val="4B505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7</c:v>
                </c:pt>
                <c:pt idx="2">
                  <c:v>21</c:v>
                </c:pt>
                <c:pt idx="3">
                  <c:v>30</c:v>
                </c:pt>
                <c:pt idx="4">
                  <c:v>45</c:v>
                </c:pt>
                <c:pt idx="5">
                  <c:v>60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4.8999999999999998E-3</c:v>
                </c:pt>
                <c:pt idx="1">
                  <c:v>1.9800000000000002E-2</c:v>
                </c:pt>
                <c:pt idx="2">
                  <c:v>4.2500000000000003E-2</c:v>
                </c:pt>
                <c:pt idx="3">
                  <c:v>4.5900000000000003E-2</c:v>
                </c:pt>
                <c:pt idx="4">
                  <c:v>2.2200000000000001E-2</c:v>
                </c:pt>
                <c:pt idx="5">
                  <c:v>5.3199999999999997E-2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811-2F4A-9DF1-EE73603C00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E2126"/>
                    </a:solidFill>
                    <a:latin typeface="+mn-lt"/>
                  </a:defRPr>
                </a:pPr>
                <a:r>
                  <a:rPr lang="en-GB" sz="1400" b="0" i="0" u="none" strike="noStrike">
                    <a:solidFill>
                      <a:srgbClr val="1E2126"/>
                    </a:solidFill>
                    <a:latin typeface="+mn-lt"/>
                  </a:rPr>
                  <a:t>Days before the meeting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08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2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1E2126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126"/>
                </a:solidFill>
                <a:latin typeface="+mn-lt"/>
              </a:defRPr>
            </a:pPr>
            <a:r>
              <a:rPr lang="en-GB" sz="1600" b="0" i="0" u="none" strike="noStrike">
                <a:solidFill>
                  <a:srgbClr val="1E2126"/>
                </a:solidFill>
                <a:latin typeface="+mn-lt"/>
              </a:rPr>
              <a:t>What futures report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A31F34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1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−50</c:v>
                </c:pt>
                <c:pt idx="1">
                  <c:v>−25</c:v>
                </c:pt>
                <c:pt idx="2">
                  <c:v>Hold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67-FC4E-A845-ED3D6731081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49999999999999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E2126"/>
                </a:solidFill>
                <a:latin typeface="+mn-lt"/>
              </a:defRPr>
            </a:pPr>
            <a:r>
              <a:rPr lang="en-GB" sz="1600" b="0" i="0" u="none" strike="noStrike">
                <a:solidFill>
                  <a:srgbClr val="1E2126"/>
                </a:solidFill>
                <a:latin typeface="+mn-lt"/>
              </a:rPr>
              <a:t>Also consistent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</c:v>
                </c:pt>
              </c:strCache>
            </c:strRef>
          </c:tx>
          <c:spPr>
            <a:solidFill>
              <a:srgbClr val="A31F34"/>
            </a:solidFill>
            <a:effectLst/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1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−50</c:v>
                </c:pt>
                <c:pt idx="1">
                  <c:v>−25</c:v>
                </c:pt>
                <c:pt idx="2">
                  <c:v>Hold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</c:v>
                </c:pt>
                <c:pt idx="1">
                  <c:v>0</c:v>
                </c:pt>
                <c:pt idx="2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2C-BD4F-BD0C-A5D1D1B886F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1499999999999999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abs. gap</c:v>
                </c:pt>
              </c:strCache>
            </c:strRef>
          </c:tx>
          <c:spPr>
            <a:solidFill>
              <a:srgbClr val="A31F3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126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2–7</c:v>
                </c:pt>
                <c:pt idx="2">
                  <c:v>8–30</c:v>
                </c:pt>
                <c:pt idx="3">
                  <c:v>31–60</c:v>
                </c:pt>
                <c:pt idx="4">
                  <c:v>61–120</c:v>
                </c:pt>
                <c:pt idx="5">
                  <c:v>121+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1.6E-2</c:v>
                </c:pt>
                <c:pt idx="1">
                  <c:v>0.02</c:v>
                </c:pt>
                <c:pt idx="2">
                  <c:v>2.8000000000000001E-2</c:v>
                </c:pt>
                <c:pt idx="3">
                  <c:v>4.9000000000000002E-2</c:v>
                </c:pt>
                <c:pt idx="4">
                  <c:v>7.0999999999999994E-2</c:v>
                </c:pt>
                <c:pt idx="5">
                  <c:v>0.114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8A-5C4A-A1EE-BA738E2D53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E2126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E2126"/>
                    </a:solidFill>
                    <a:latin typeface="+mn-lt"/>
                  </a:rPr>
                  <a:t>Days before the meeting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13"/>
          <c:min val="0"/>
        </c:scaling>
        <c:delete val="0"/>
        <c:axPos val="l"/>
        <c:majorGridlines>
          <c:spPr>
            <a:ln w="9525" cap="flat">
              <a:solidFill>
                <a:srgbClr val="E6E6E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1E2126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1E2126"/>
                    </a:solidFill>
                    <a:latin typeface="+mn-lt"/>
                  </a:rPr>
                  <a:t>Mean abs. gap</a:t>
                </a:r>
              </a:p>
            </c:rich>
          </c:tx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6B70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3163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400" b="1" kern="0" spc="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3154680"/>
            <a:ext cx="9601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2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31520" y="498348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5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15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MIT Sloan  |  15.S06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marL="0" indent="0">
              <a:buNone/>
            </a:pPr>
            <a:endParaRPr lang="en-US" sz="1000" dirty="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chemeClr val="bg2"/>
                </a:solidFill>
              </a:rPr>
              <a:t>15.S06 AI AND ML RESEARCH IN FINANCE  ·  KALSHI VS. FED FUNDS FUTURES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Prediction Markets as Macro Data</a:t>
            </a:r>
            <a:endParaRPr lang="en-US" sz="5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31546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dirty="0">
                <a:solidFill>
                  <a:schemeClr val="bg2"/>
                </a:solidFill>
              </a:rPr>
              <a:t>Are Kalshi’s prices on FOMC decisions good forecasts, and how do they compare with fed funds futures?</a:t>
            </a:r>
            <a:endParaRPr lang="en-US" sz="22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73152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800" b="1" dirty="0">
                <a:solidFill>
                  <a:schemeClr val="bg1"/>
                </a:solidFill>
              </a:rPr>
              <a:t>Andres Blanco Prada  ·  Panos Koutsoukos  ·  Connor Rippert  ·  Vish</a:t>
            </a:r>
            <a:endParaRPr lang="en-US" sz="1800" dirty="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731520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600" dirty="0">
                <a:solidFill>
                  <a:schemeClr val="bg2"/>
                </a:solidFill>
              </a:rPr>
              <a:t>MIT Sloan School of Management  |  Progress update,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Are prediction markets good macro forecasts?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Three research questions, taken in order: one part of the talk each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2 / 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33197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Kalshi’s prices are a new, real-time read on macro expectations.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175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Each Kalshi contract pays $1 if its outcome (e.g. “cut 25bp”) happens, so its price in ¢ reads as a probability. Are these good forecasts? We answer in three parts; the tag at the top right of every slide shows the part.</a:t>
            </a:r>
            <a:endParaRPr lang="en-US" sz="1600" dirty="0"/>
          </a:p>
        </p:txBody>
      </p:sp>
      <p:sp>
        <p:nvSpPr>
          <p:cNvPr id="8" name="intro-data"/>
          <p:cNvSpPr/>
          <p:nvPr/>
        </p:nvSpPr>
        <p:spPr>
          <a:xfrm>
            <a:off x="548640" y="4434840"/>
            <a:ext cx="484632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77240" y="459028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Data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Every Kalshi trade and 1-minute quote since 2021; Bloomberg fed funds futures daily since 2021.</a:t>
            </a:r>
            <a:endParaRPr lang="en-US" sz="1400" dirty="0"/>
          </a:p>
        </p:txBody>
      </p:sp>
      <p:sp>
        <p:nvSpPr>
          <p:cNvPr id="11" name="rq-0"/>
          <p:cNvSpPr/>
          <p:nvPr/>
        </p:nvSpPr>
        <p:spPr>
          <a:xfrm>
            <a:off x="5943600" y="1828800"/>
            <a:ext cx="569945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72200" y="20116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7220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0299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RQ1  Calibration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988552" y="2057400"/>
            <a:ext cx="242316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988552" y="20574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Slides 3–7 · first results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432304"/>
            <a:ext cx="46936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Are Kalshi prices rational forecasts? Favorite–longshot bias? Better than futures and surveys?</a:t>
            </a:r>
            <a:endParaRPr lang="en-US" sz="1400" dirty="0"/>
          </a:p>
        </p:txBody>
      </p:sp>
      <p:sp>
        <p:nvSpPr>
          <p:cNvPr id="18" name="rq-1"/>
          <p:cNvSpPr/>
          <p:nvPr/>
        </p:nvSpPr>
        <p:spPr>
          <a:xfrm>
            <a:off x="5943600" y="3200400"/>
            <a:ext cx="569945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3383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7220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4015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RQ2  Price discovery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988552" y="3429000"/>
            <a:ext cx="242316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988552" y="3429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Slide 8 · started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803904"/>
            <a:ext cx="46936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How fast do prices absorb CPI, payrolls and FOMC news vs. futures?</a:t>
            </a:r>
            <a:endParaRPr lang="en-US" sz="1400" dirty="0"/>
          </a:p>
        </p:txBody>
      </p:sp>
      <p:sp>
        <p:nvSpPr>
          <p:cNvPr id="25" name="rq-2"/>
          <p:cNvSpPr/>
          <p:nvPr/>
        </p:nvSpPr>
        <p:spPr>
          <a:xfrm>
            <a:off x="5943600" y="4572000"/>
            <a:ext cx="5699455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72200" y="47548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172200" y="4754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47731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RQ3  Forecasting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988552" y="4800600"/>
            <a:ext cx="2423160" cy="29260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8988552" y="48006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accent1"/>
                </a:solidFill>
              </a:rPr>
              <a:t>Slides 9–10 · for feedback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6720840" y="5175504"/>
            <a:ext cx="46936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Use Kalshi distributions to predict policy and macro surprises, starting with where Kalshi and options disagree.</a:t>
            </a:r>
            <a:endParaRPr lang="en-US" sz="1400" dirty="0"/>
          </a:p>
        </p:txBody>
      </p:sp>
      <p:sp>
        <p:nvSpPr>
          <p:cNvPr id="32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MOTIVATION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Kalshi has become a deep market for Fed decisions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Contracts traded per month, all Kalshi Fed-decision markets (log scale)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01_eda_kalshi.py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1 / 10</a:t>
            </a:r>
            <a:endParaRPr lang="en-US" sz="1000" dirty="0"/>
          </a:p>
        </p:txBody>
      </p:sp>
      <p:graphicFrame>
        <p:nvGraphicFramePr>
          <p:cNvPr id="7" name="volume-bars"/>
          <p:cNvGraphicFramePr/>
          <p:nvPr/>
        </p:nvGraphicFramePr>
        <p:xfrm>
          <a:off x="548640" y="1783080"/>
          <a:ext cx="72237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tat-0"/>
          <p:cNvSpPr txBox="1"/>
          <p:nvPr/>
        </p:nvSpPr>
        <p:spPr>
          <a:xfrm>
            <a:off x="8229600" y="182880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~10×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5059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jump in monthly volume in spring 2025</a:t>
            </a:r>
            <a:endParaRPr lang="en-US" sz="1500" dirty="0"/>
          </a:p>
        </p:txBody>
      </p:sp>
      <p:sp>
        <p:nvSpPr>
          <p:cNvPr id="10" name="stat-1"/>
          <p:cNvSpPr txBox="1"/>
          <p:nvPr/>
        </p:nvSpPr>
        <p:spPr>
          <a:xfrm>
            <a:off x="8229600" y="301752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620M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639312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contracts traded on FOMC decisions since 2023</a:t>
            </a:r>
            <a:endParaRPr lang="en-US" sz="1500" dirty="0"/>
          </a:p>
        </p:txBody>
      </p:sp>
      <p:sp>
        <p:nvSpPr>
          <p:cNvPr id="12" name="stat-2"/>
          <p:cNvSpPr txBox="1"/>
          <p:nvPr/>
        </p:nvSpPr>
        <p:spPr>
          <a:xfrm>
            <a:off x="8229600" y="4453128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1¢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5074920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median bid–ask spread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PART 1 · CALIBRATION · DATA CHECK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Data check: we reproduce a Fed study, with smaller errors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Error of the Kalshi-implied fed funds rate vs. the rate the FOMC set; 41 meetings, 2021–2026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kalshi_fed/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3 / 10</a:t>
            </a:r>
            <a:endParaRPr lang="en-US" sz="1000" dirty="0"/>
          </a:p>
        </p:txBody>
      </p:sp>
      <p:pic>
        <p:nvPicPr>
          <p:cNvPr id="7" name="fig-repl" descr="fig/rep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6213096" cy="3429000"/>
          </a:xfrm>
          <a:prstGeom prst="rect">
            <a:avLst/>
          </a:prstGeom>
        </p:spPr>
      </p:pic>
      <p:sp>
        <p:nvSpPr>
          <p:cNvPr id="8" name="stat-0"/>
          <p:cNvSpPr txBox="1"/>
          <p:nvPr/>
        </p:nvSpPr>
        <p:spPr>
          <a:xfrm>
            <a:off x="8229600" y="278892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41/41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410712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meetings called correctly the day before</a:t>
            </a:r>
            <a:endParaRPr lang="en-US" sz="1500" dirty="0"/>
          </a:p>
        </p:txBody>
      </p:sp>
      <p:sp>
        <p:nvSpPr>
          <p:cNvPr id="10" name="stat-1"/>
          <p:cNvSpPr txBox="1"/>
          <p:nvPr/>
        </p:nvSpPr>
        <p:spPr>
          <a:xfrm>
            <a:off x="8229600" y="406908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−14%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690872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lower average error than the DKW method, 1–160 days out (17.9 vs. 20.8bp)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5440680"/>
            <a:ext cx="34107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Why quotes win: 40–45% of last trades are over a week old.</a:t>
            </a:r>
            <a:endParaRPr lang="en-US" sz="1300" dirty="0"/>
          </a:p>
        </p:txBody>
      </p:sp>
      <p:sp>
        <p:nvSpPr>
          <p:cNvPr id="13" name="part-tracker-1"/>
          <p:cNvSpPr txBox="1"/>
          <p:nvPr/>
        </p:nvSpPr>
        <p:spPr>
          <a:xfrm>
            <a:off x="7360920" y="310896"/>
            <a:ext cx="126187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1  Calibration</a:t>
            </a:r>
          </a:p>
        </p:txBody>
      </p:sp>
      <p:sp>
        <p:nvSpPr>
          <p:cNvPr id="14" name="part-tracker-2"/>
          <p:cNvSpPr txBox="1"/>
          <p:nvPr/>
        </p:nvSpPr>
        <p:spPr>
          <a:xfrm>
            <a:off x="8695944" y="310896"/>
            <a:ext cx="157276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2  Price discovery</a:t>
            </a:r>
          </a:p>
        </p:txBody>
      </p:sp>
      <p:sp>
        <p:nvSpPr>
          <p:cNvPr id="15" name="part-tracker-3"/>
          <p:cNvSpPr txBox="1"/>
          <p:nvPr/>
        </p:nvSpPr>
        <p:spPr>
          <a:xfrm>
            <a:off x="10341864" y="310896"/>
            <a:ext cx="129844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3  Forecasting</a:t>
            </a:r>
          </a:p>
        </p:txBody>
      </p:sp>
      <p:sp>
        <p:nvSpPr>
          <p:cNvPr id="16" name="dkw-definition"/>
          <p:cNvSpPr txBox="1"/>
          <p:nvPr/>
        </p:nvSpPr>
        <p:spPr>
          <a:xfrm>
            <a:off x="548640" y="1719072"/>
            <a:ext cx="11091672" cy="10241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28016" tIns="128016" rIns="128016" bIns="128016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What is DKW?  </a:t>
            </a:r>
            <a:r>
              <a:rPr lang="en-US" sz="1300" dirty="0">
                <a:solidFill>
                  <a:schemeClr val="tx1"/>
                </a:solidFill>
              </a:rPr>
              <a:t>Diercks, Katz &amp; Wright (2026), a Federal Reserve Board working paper (FEDS 2026-010). They turn Kalshi’s FOMC contracts into a daily probability distribution for the fed funds rate at each meeting, and find it about as accurate as fed funds futures and surveys.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Why this slide:  </a:t>
            </a:r>
            <a:r>
              <a:rPr lang="en-US" sz="1300" dirty="0">
                <a:solidFill>
                  <a:schemeClr val="tx1"/>
                </a:solidFill>
              </a:rPr>
              <a:t>before testing whether Kalshi’s probabilities are right, we check that our data and method reproduce their result. DKW use last trades; we use bid–ask quotes.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PART 1 · CALIBRATION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Fed-decision prices show a favorite–longshot pattern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Share of contracts that paid out, by price; quotes every minute, 0–60 days before the meeting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02_calibration_kalshi.py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4 / 10</a:t>
            </a:r>
            <a:endParaRPr lang="en-US" sz="1000" dirty="0"/>
          </a:p>
        </p:txBody>
      </p:sp>
      <p:pic>
        <p:nvPicPr>
          <p:cNvPr id="7" name="fig-calbub" descr="fig/calbu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631" y="1783080"/>
            <a:ext cx="6447778" cy="4389120"/>
          </a:xfrm>
          <a:prstGeom prst="rect">
            <a:avLst/>
          </a:prstGeom>
        </p:spPr>
      </p:pic>
      <p:sp>
        <p:nvSpPr>
          <p:cNvPr id="8" name="stat-0"/>
          <p:cNvSpPr txBox="1"/>
          <p:nvPr/>
        </p:nvSpPr>
        <p:spPr>
          <a:xfrm>
            <a:off x="8229600" y="2474261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0.1%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096053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payout rate of contracts priced 1–10¢</a:t>
            </a:r>
            <a:endParaRPr lang="en-US" sz="1500" dirty="0"/>
          </a:p>
        </p:txBody>
      </p:sp>
      <p:sp>
        <p:nvSpPr>
          <p:cNvPr id="10" name="stat-1"/>
          <p:cNvSpPr txBox="1"/>
          <p:nvPr/>
        </p:nvSpPr>
        <p:spPr>
          <a:xfrm>
            <a:off x="8229600" y="3909869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99.8%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531661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payout rate of contracts priced 90–99¢ </a:t>
            </a:r>
            <a:endParaRPr lang="en-US" sz="1500" dirty="0"/>
          </a:p>
        </p:txBody>
      </p:sp>
      <p:sp>
        <p:nvSpPr>
          <p:cNvPr id="12" name="part-tracker-1"/>
          <p:cNvSpPr txBox="1"/>
          <p:nvPr/>
        </p:nvSpPr>
        <p:spPr>
          <a:xfrm>
            <a:off x="7360920" y="310896"/>
            <a:ext cx="126187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1  Calibration</a:t>
            </a:r>
          </a:p>
        </p:txBody>
      </p:sp>
      <p:sp>
        <p:nvSpPr>
          <p:cNvPr id="13" name="part-tracker-2"/>
          <p:cNvSpPr txBox="1"/>
          <p:nvPr/>
        </p:nvSpPr>
        <p:spPr>
          <a:xfrm>
            <a:off x="8695944" y="310896"/>
            <a:ext cx="157276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2  Price discovery</a:t>
            </a:r>
          </a:p>
        </p:txBody>
      </p:sp>
      <p:sp>
        <p:nvSpPr>
          <p:cNvPr id="14" name="part-tracker-3"/>
          <p:cNvSpPr txBox="1"/>
          <p:nvPr/>
        </p:nvSpPr>
        <p:spPr>
          <a:xfrm>
            <a:off x="10341864" y="310896"/>
            <a:ext cx="129844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3  Forecasting</a:t>
            </a:r>
          </a:p>
        </p:txBody>
      </p:sp>
      <p:sp>
        <p:nvSpPr>
          <p:cNvPr id="15" name="calibration-reading"/>
          <p:cNvSpPr txBox="1"/>
          <p:nvPr/>
        </p:nvSpPr>
        <p:spPr>
          <a:xfrm>
            <a:off x="8229600" y="5257800"/>
            <a:ext cx="3410712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Calibrated = on the dashed line: a 30¢ contract pays out 30% of the time. Cheap longshots pay out even less often than priced; favorites more often.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PART 1 · CALIBRATION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 calibration regression confirms the pattern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Logistic regression of the outcome on logit(price): β = 1 means calibrated, β &gt; 1 means prices are too timid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02_calibration_kalshi.py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5 / 10</a:t>
            </a:r>
            <a:endParaRPr lang="en-US" sz="1000" dirty="0"/>
          </a:p>
        </p:txBody>
      </p:sp>
      <p:graphicFrame>
        <p:nvGraphicFramePr>
          <p:cNvPr id="7" name="calibration-curves"/>
          <p:cNvGraphicFramePr/>
          <p:nvPr/>
        </p:nvGraphicFramePr>
        <p:xfrm>
          <a:off x="548640" y="1783080"/>
          <a:ext cx="722376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tat-0"/>
          <p:cNvSpPr txBox="1"/>
          <p:nvPr/>
        </p:nvSpPr>
        <p:spPr>
          <a:xfrm>
            <a:off x="8229600" y="182880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1.75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50592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calibration slope β at 1–21 days (SE 0.45; bootstrap 95% CI 1.22–3.54)</a:t>
            </a:r>
            <a:endParaRPr lang="en-US" sz="1500" dirty="0"/>
          </a:p>
        </p:txBody>
      </p:sp>
      <p:sp>
        <p:nvSpPr>
          <p:cNvPr id="10" name="stat-1"/>
          <p:cNvSpPr txBox="1"/>
          <p:nvPr/>
        </p:nvSpPr>
        <p:spPr>
          <a:xfrm>
            <a:off x="8229600" y="3264408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 = 0.01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886200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joint test that α = 0 and β = 1 (cluster bootstrap)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00016"/>
            <a:ext cx="3410712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β &gt; 1: favorites win more than priced, longshots less. </a:t>
            </a:r>
            <a:endParaRPr lang="en-US" sz="1300" dirty="0"/>
          </a:p>
        </p:txBody>
      </p:sp>
      <p:sp>
        <p:nvSpPr>
          <p:cNvPr id="13" name="part-tracker-1"/>
          <p:cNvSpPr txBox="1"/>
          <p:nvPr/>
        </p:nvSpPr>
        <p:spPr>
          <a:xfrm>
            <a:off x="7360920" y="310896"/>
            <a:ext cx="126187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1  Calibration</a:t>
            </a:r>
          </a:p>
        </p:txBody>
      </p:sp>
      <p:sp>
        <p:nvSpPr>
          <p:cNvPr id="14" name="part-tracker-2"/>
          <p:cNvSpPr txBox="1"/>
          <p:nvPr/>
        </p:nvSpPr>
        <p:spPr>
          <a:xfrm>
            <a:off x="8695944" y="310896"/>
            <a:ext cx="157276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2  Price discovery</a:t>
            </a:r>
          </a:p>
        </p:txBody>
      </p:sp>
      <p:sp>
        <p:nvSpPr>
          <p:cNvPr id="15" name="part-tracker-3"/>
          <p:cNvSpPr txBox="1"/>
          <p:nvPr/>
        </p:nvSpPr>
        <p:spPr>
          <a:xfrm>
            <a:off x="10341864" y="310896"/>
            <a:ext cx="129844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3  Forecasting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PART 1 · CALIBRATION · BENCHMARK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Benchmark: fed funds futures give odds for every meeting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RQ1 also asks if Kalshi beats existing markets, so we turn futures into the same probabilities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03_fedfunds_vs_kalshi.py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6 / 10</a:t>
            </a:r>
            <a:endParaRPr lang="en-US" sz="1000" dirty="0"/>
          </a:p>
        </p:txBody>
      </p:sp>
      <p:sp>
        <p:nvSpPr>
          <p:cNvPr id="7" name="step-0"/>
          <p:cNvSpPr/>
          <p:nvPr/>
        </p:nvSpPr>
        <p:spPr>
          <a:xfrm>
            <a:off x="548640" y="182880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Futures price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FF1–FF13, daily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99232" y="2331720"/>
            <a:ext cx="38191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tep-1"/>
          <p:cNvSpPr/>
          <p:nvPr/>
        </p:nvSpPr>
        <p:spPr>
          <a:xfrm>
            <a:off x="3454298" y="182880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545738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Avg. rate per month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100 − P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904890" y="2331720"/>
            <a:ext cx="38191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tep-2"/>
          <p:cNvSpPr/>
          <p:nvPr/>
        </p:nvSpPr>
        <p:spPr>
          <a:xfrm>
            <a:off x="6359957" y="182880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451397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Rate after meeting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strip the pre-meeting days out of that month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810549" y="2331720"/>
            <a:ext cx="381914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tep-3"/>
          <p:cNvSpPr/>
          <p:nvPr/>
        </p:nvSpPr>
        <p:spPr>
          <a:xfrm>
            <a:off x="9265615" y="1828800"/>
            <a:ext cx="23774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357055" y="18288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Expected move x</a:t>
            </a:r>
            <a:endParaRPr lang="en-US" sz="1600" dirty="0"/>
          </a:p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in 25bp units</a:t>
            </a:r>
            <a:endParaRPr lang="en-US" sz="1600" dirty="0"/>
          </a:p>
        </p:txBody>
      </p:sp>
      <p:graphicFrame>
        <p:nvGraphicFramePr>
          <p:cNvPr id="18" name="futures-example"/>
          <p:cNvGraphicFramePr/>
          <p:nvPr/>
        </p:nvGraphicFramePr>
        <p:xfrm>
          <a:off x="548640" y="3154680"/>
          <a:ext cx="603504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 txBox="1"/>
          <p:nvPr/>
        </p:nvSpPr>
        <p:spPr>
          <a:xfrm>
            <a:off x="7086600" y="3200400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Example: </a:t>
            </a:r>
            <a:r>
              <a:rPr lang="en-US" sz="1600" dirty="0">
                <a:solidFill>
                  <a:schemeClr val="tx1"/>
                </a:solidFill>
              </a:rPr>
              <a:t>30 Jul 2024, for the 18 Sep meeting.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x = −1.09 steps ⇒ 91% cut 25bp, 9% cut 50bp.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4069080"/>
            <a:ext cx="45537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All mass sits on the two outcomes next to x, so the futures can never price the tails.</a:t>
            </a:r>
            <a:endParaRPr lang="en-US" sz="1500" dirty="0"/>
          </a:p>
        </p:txBody>
      </p:sp>
      <p:sp>
        <p:nvSpPr>
          <p:cNvPr id="21" name="part-tracker-1"/>
          <p:cNvSpPr txBox="1"/>
          <p:nvPr/>
        </p:nvSpPr>
        <p:spPr>
          <a:xfrm>
            <a:off x="7360920" y="310896"/>
            <a:ext cx="126187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1  Calibration</a:t>
            </a:r>
          </a:p>
        </p:txBody>
      </p:sp>
      <p:sp>
        <p:nvSpPr>
          <p:cNvPr id="22" name="part-tracker-2"/>
          <p:cNvSpPr txBox="1"/>
          <p:nvPr/>
        </p:nvSpPr>
        <p:spPr>
          <a:xfrm>
            <a:off x="8695944" y="310896"/>
            <a:ext cx="157276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2  Price discovery</a:t>
            </a:r>
          </a:p>
        </p:txBody>
      </p:sp>
      <p:sp>
        <p:nvSpPr>
          <p:cNvPr id="23" name="part-tracker-3"/>
          <p:cNvSpPr txBox="1"/>
          <p:nvPr/>
        </p:nvSpPr>
        <p:spPr>
          <a:xfrm>
            <a:off x="10341864" y="310896"/>
            <a:ext cx="129844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3  Forecasting</a:t>
            </a:r>
          </a:p>
        </p:txBody>
      </p:sp>
      <p:sp>
        <p:nvSpPr>
          <p:cNvPr id="24" name="futures-definitions"/>
          <p:cNvSpPr txBox="1"/>
          <p:nvPr/>
        </p:nvSpPr>
        <p:spPr>
          <a:xfrm>
            <a:off x="7086600" y="4754880"/>
            <a:ext cx="4553712" cy="144475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square" lIns="109728" tIns="109728" rIns="109728" bIns="109728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FF1–FF13:  </a:t>
            </a:r>
            <a:r>
              <a:rPr lang="en-US" sz="1200" dirty="0">
                <a:solidFill>
                  <a:schemeClr val="tx1"/>
                </a:solidFill>
              </a:rPr>
              <a:t>CME 30-day fed funds futures for this month (FF1) through 12 months ahead (FF13). Each settles at 100 minus that month’s average effective fed funds rate.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WIRP:  </a:t>
            </a:r>
            <a:r>
              <a:rPr lang="en-US" sz="1200" dirty="0">
                <a:solidFill>
                  <a:schemeClr val="tx1"/>
                </a:solidFill>
              </a:rPr>
              <a:t>Bloomberg’s World Interest Rate Probability screen, the standard way traders read meeting odds off these futures. We rebuild its method (appendix A11).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PART 1 · CALIBRATION · KALSHI VS. FUTURES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Kalshi tracks futures and edges them up to 30 days out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Both read at 15:00 ET each day and scored against the actual decision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03_fedfunds_vs_kalshi.py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7 / 10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meeting: Sep 2024, P(50bp cut)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10312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y-axis: probability of a 50bp cut; the outcome was a 50bp cut</a:t>
            </a:r>
            <a:endParaRPr lang="en-US" sz="1300" dirty="0"/>
          </a:p>
        </p:txBody>
      </p:sp>
      <p:pic>
        <p:nvPicPr>
          <p:cNvPr id="9" name="fig-sep24" descr="fig/sep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4963886" cy="32918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293815" y="17830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All meetings: Brier score (lower is better)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293815" y="2103120"/>
            <a:ext cx="5349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Brier = average of (p − Y)² over hold and ±25bp contracts; p = forecast probability, Y = 1 if the outcome happened. 0 is perfect; always saying 50% scores 0.25. Fewer meetings at 45–60 days.</a:t>
            </a:r>
            <a:endParaRPr lang="en-US" sz="1300" dirty="0"/>
          </a:p>
        </p:txBody>
      </p:sp>
      <p:graphicFrame>
        <p:nvGraphicFramePr>
          <p:cNvPr id="12" name="brier-by-horizon"/>
          <p:cNvGraphicFramePr/>
          <p:nvPr/>
        </p:nvGraphicFramePr>
        <p:xfrm>
          <a:off x="6293815" y="2852928"/>
          <a:ext cx="5349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part-tracker-1"/>
          <p:cNvSpPr txBox="1"/>
          <p:nvPr/>
        </p:nvSpPr>
        <p:spPr>
          <a:xfrm>
            <a:off x="7360920" y="310896"/>
            <a:ext cx="1261872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1  Calibration</a:t>
            </a:r>
          </a:p>
        </p:txBody>
      </p:sp>
      <p:sp>
        <p:nvSpPr>
          <p:cNvPr id="14" name="part-tracker-2"/>
          <p:cNvSpPr txBox="1"/>
          <p:nvPr/>
        </p:nvSpPr>
        <p:spPr>
          <a:xfrm>
            <a:off x="8695944" y="310896"/>
            <a:ext cx="157276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2  Price discovery</a:t>
            </a:r>
          </a:p>
        </p:txBody>
      </p:sp>
      <p:sp>
        <p:nvSpPr>
          <p:cNvPr id="15" name="part-tracker-3"/>
          <p:cNvSpPr txBox="1"/>
          <p:nvPr/>
        </p:nvSpPr>
        <p:spPr>
          <a:xfrm>
            <a:off x="10341864" y="310896"/>
            <a:ext cx="129844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3  Forecasting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PART 2 · PRICE DISCOVERY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Intraday, futures lead Kalshi by about five minutes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Who reacts first to news? Minute-by-minute quotes, Mar–Oct 2026, 140 trading days, 5 FOMC meetings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04_leadlag_fedfunds_kalshi.py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8 / 10</a:t>
            </a:r>
            <a:endParaRPr lang="en-US" sz="1000" dirty="0"/>
          </a:p>
        </p:txBody>
      </p:sp>
      <p:pic>
        <p:nvPicPr>
          <p:cNvPr id="7" name="fig-leadlag" descr="fig/leadl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97480"/>
            <a:ext cx="6952869" cy="3520440"/>
          </a:xfrm>
          <a:prstGeom prst="rect">
            <a:avLst/>
          </a:prstGeom>
        </p:spPr>
      </p:pic>
      <p:sp>
        <p:nvSpPr>
          <p:cNvPr id="8" name="stat-0"/>
          <p:cNvSpPr txBox="1"/>
          <p:nvPr/>
        </p:nvSpPr>
        <p:spPr>
          <a:xfrm>
            <a:off x="8229600" y="182880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0.22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50592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same 5-minute window: most co-movement is simultaneous</a:t>
            </a:r>
            <a:endParaRPr lang="en-US" sz="1500" dirty="0"/>
          </a:p>
        </p:txBody>
      </p:sp>
      <p:sp>
        <p:nvSpPr>
          <p:cNvPr id="10" name="stat-1"/>
          <p:cNvSpPr txBox="1"/>
          <p:nvPr/>
        </p:nvSpPr>
        <p:spPr>
          <a:xfrm>
            <a:off x="8229600" y="315468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 &lt; 0.001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776472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past futures moves help predict Kalshi’s next move (Granger test); the reverse is weaker (p = 0.06)</a:t>
            </a:r>
            <a:endParaRPr lang="en-US" sz="1500" dirty="0"/>
          </a:p>
        </p:txBody>
      </p:sp>
      <p:sp>
        <p:nvSpPr>
          <p:cNvPr id="12" name="stat-2"/>
          <p:cNvSpPr txBox="1"/>
          <p:nvPr/>
        </p:nvSpPr>
        <p:spPr>
          <a:xfrm>
            <a:off x="8229600" y="470916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16%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5330952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of a large futures move is matched by Kalshi within 15 minutes: it follows only partly</a:t>
            </a:r>
            <a:endParaRPr lang="en-US" sz="1500" dirty="0"/>
          </a:p>
        </p:txBody>
      </p:sp>
      <p:sp>
        <p:nvSpPr>
          <p:cNvPr id="14" name="part-tracker-1"/>
          <p:cNvSpPr txBox="1"/>
          <p:nvPr/>
        </p:nvSpPr>
        <p:spPr>
          <a:xfrm>
            <a:off x="7360920" y="310896"/>
            <a:ext cx="1261872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1  Calibration</a:t>
            </a:r>
          </a:p>
        </p:txBody>
      </p:sp>
      <p:sp>
        <p:nvSpPr>
          <p:cNvPr id="15" name="part-tracker-2"/>
          <p:cNvSpPr txBox="1"/>
          <p:nvPr/>
        </p:nvSpPr>
        <p:spPr>
          <a:xfrm>
            <a:off x="8695944" y="310896"/>
            <a:ext cx="157276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2  Price discovery</a:t>
            </a:r>
          </a:p>
        </p:txBody>
      </p:sp>
      <p:sp>
        <p:nvSpPr>
          <p:cNvPr id="16" name="part-tracker-3"/>
          <p:cNvSpPr txBox="1"/>
          <p:nvPr/>
        </p:nvSpPr>
        <p:spPr>
          <a:xfrm>
            <a:off x="10341864" y="310896"/>
            <a:ext cx="129844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3  Forecasting</a:t>
            </a:r>
          </a:p>
        </p:txBody>
      </p:sp>
      <p:sp>
        <p:nvSpPr>
          <p:cNvPr id="17" name="leadlag-heading"/>
          <p:cNvSpPr txBox="1"/>
          <p:nvPr/>
        </p:nvSpPr>
        <p:spPr>
          <a:xfrm>
            <a:off x="548640" y="1783080"/>
            <a:ext cx="72237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What each bar shows</a:t>
            </a:r>
          </a:p>
        </p:txBody>
      </p:sp>
      <p:sp>
        <p:nvSpPr>
          <p:cNvPr id="18" name="leadlag-definition"/>
          <p:cNvSpPr txBox="1"/>
          <p:nvPr/>
        </p:nvSpPr>
        <p:spPr>
          <a:xfrm>
            <a:off x="548640" y="2103120"/>
            <a:ext cx="72237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l">
              <a:spcAft>
                <a:spcPts val="0"/>
              </a:spcAft>
              <a:buNone/>
            </a:pPr>
            <a:r>
              <a:rPr lang="en-US" sz="1300" dirty="0">
                <a:solidFill>
                  <a:schemeClr val="tx2"/>
                </a:solidFill>
              </a:rPr>
              <a:t>Both markets imply an expected rate change at the next meeting (bp). Each bar: correlation of the futures’ change in one 5-minute window with Kalshi’s change k minutes later.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PART 3 · NEXT STEPS · WHY WE NEED OPTIONS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Futures only see the mean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Part 3 needs full distributions, but our futures benchmark (slide 6) only pins down the mean x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9 / 10</a:t>
            </a:r>
            <a:endParaRPr lang="en-US" sz="1000" dirty="0"/>
          </a:p>
        </p:txBody>
      </p:sp>
      <p:graphicFrame>
        <p:nvGraphicFramePr>
          <p:cNvPr id="6" name="bars-futures"/>
          <p:cNvGraphicFramePr/>
          <p:nvPr/>
        </p:nvGraphicFramePr>
        <p:xfrm>
          <a:off x="548640" y="1828800"/>
          <a:ext cx="33375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bars-bimodal"/>
          <p:cNvGraphicFramePr/>
          <p:nvPr/>
        </p:nvGraphicFramePr>
        <p:xfrm>
          <a:off x="4160520" y="1828800"/>
          <a:ext cx="33375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25780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Same mean: x = −1 step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001000" y="178308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Usually fine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001000" y="2167128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Most meetings are hold vs. 25bp; everything else is near zero.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8001000" y="283464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Breaks on splits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8001000" y="3218688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When the market is split (Sep 2024), one mean hides two very different beliefs.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8001000" y="388620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Tails are never priced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8001000" y="4270248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 Kalshi’s extra weight beyond 25bp (appendix A12) is partly mechanical.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8001000" y="493776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Fix: options</a:t>
            </a:r>
            <a:endParaRPr lang="en-US" sz="2000" dirty="0"/>
          </a:p>
        </p:txBody>
      </p:sp>
      <p:sp>
        <p:nvSpPr>
          <p:cNvPr id="16" name="Text 12"/>
          <p:cNvSpPr txBox="1"/>
          <p:nvPr/>
        </p:nvSpPr>
        <p:spPr>
          <a:xfrm>
            <a:off x="8001000" y="5321808"/>
            <a:ext cx="3639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Fed funds and SOFR option strikes give the full distribution per meeting.</a:t>
            </a:r>
            <a:endParaRPr lang="en-US" sz="1400" dirty="0"/>
          </a:p>
        </p:txBody>
      </p:sp>
      <p:sp>
        <p:nvSpPr>
          <p:cNvPr id="17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part-tracker-1"/>
          <p:cNvSpPr txBox="1"/>
          <p:nvPr/>
        </p:nvSpPr>
        <p:spPr>
          <a:xfrm>
            <a:off x="7360920" y="310896"/>
            <a:ext cx="1261872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1  Calibration</a:t>
            </a:r>
          </a:p>
        </p:txBody>
      </p:sp>
      <p:sp>
        <p:nvSpPr>
          <p:cNvPr id="19" name="part-tracker-2"/>
          <p:cNvSpPr txBox="1"/>
          <p:nvPr/>
        </p:nvSpPr>
        <p:spPr>
          <a:xfrm>
            <a:off x="8695944" y="310896"/>
            <a:ext cx="157276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2  Price discovery</a:t>
            </a:r>
          </a:p>
        </p:txBody>
      </p:sp>
      <p:sp>
        <p:nvSpPr>
          <p:cNvPr id="20" name="part-tracker-3"/>
          <p:cNvSpPr txBox="1"/>
          <p:nvPr/>
        </p:nvSpPr>
        <p:spPr>
          <a:xfrm>
            <a:off x="10341864" y="310896"/>
            <a:ext cx="12984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3  Forecasting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PART 3 · FORECASTING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Next: the MacroTron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Our planned ML model: read the macro state, predict where Kalshi and options disagree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10 / 10</a:t>
            </a:r>
            <a:endParaRPr lang="en-US" sz="1000" dirty="0"/>
          </a:p>
        </p:txBody>
      </p:sp>
      <p:sp>
        <p:nvSpPr>
          <p:cNvPr id="6" name="input-0"/>
          <p:cNvSpPr/>
          <p:nvPr/>
        </p:nvSpPr>
        <p:spPr>
          <a:xfrm>
            <a:off x="548640" y="187452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87452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Macro state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Last CPI, core CPI, payrolls: surprise and days since; EFFR and target range</a:t>
            </a:r>
            <a:endParaRPr lang="en-US" sz="1600" dirty="0"/>
          </a:p>
        </p:txBody>
      </p:sp>
      <p:sp>
        <p:nvSpPr>
          <p:cNvPr id="8" name="input-1"/>
          <p:cNvSpPr/>
          <p:nvPr/>
        </p:nvSpPr>
        <p:spPr>
          <a:xfrm>
            <a:off x="548640" y="315468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Market expectations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Fed funds futures path, CPI fixings, TIPS breakevens</a:t>
            </a:r>
            <a:endParaRPr lang="en-US" sz="1600" dirty="0"/>
          </a:p>
        </p:txBody>
      </p:sp>
      <p:sp>
        <p:nvSpPr>
          <p:cNvPr id="10" name="input-2"/>
          <p:cNvSpPr/>
          <p:nvPr/>
        </p:nvSpPr>
        <p:spPr>
          <a:xfrm>
            <a:off x="548640" y="4434840"/>
            <a:ext cx="39319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731520" y="4434840"/>
            <a:ext cx="3566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Kalshi expectations</a:t>
            </a:r>
            <a:endParaRPr lang="en-US" sz="16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Fed, CPI and payroll distributions</a:t>
            </a:r>
            <a:endParaRPr lang="en-US" sz="1600" dirty="0"/>
          </a:p>
        </p:txBody>
      </p:sp>
      <p:sp>
        <p:nvSpPr>
          <p:cNvPr id="12" name="macrotron"/>
          <p:cNvSpPr/>
          <p:nvPr/>
        </p:nvSpPr>
        <p:spPr>
          <a:xfrm>
            <a:off x="5257800" y="2766060"/>
            <a:ext cx="1828800" cy="182880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257800" y="27660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</a:rPr>
              <a:t>MacroTron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553712" y="2400300"/>
            <a:ext cx="843936" cy="6675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53712" y="3680460"/>
            <a:ext cx="63093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 flipV="1">
            <a:off x="4553712" y="4293100"/>
            <a:ext cx="843936" cy="6675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arget"/>
          <p:cNvSpPr/>
          <p:nvPr/>
        </p:nvSpPr>
        <p:spPr>
          <a:xfrm>
            <a:off x="8001000" y="2811780"/>
            <a:ext cx="3642055" cy="1737360"/>
          </a:xfrm>
          <a:prstGeom prst="roundRect">
            <a:avLst>
              <a:gd name="adj" fmla="val 42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8229600" y="2811780"/>
            <a:ext cx="318485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Target</a:t>
            </a:r>
            <a:endParaRPr lang="en-US" sz="18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Return on the spread between Kalshi and option-implied probabilities of the same Fed outcome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159752" y="3680460"/>
            <a:ext cx="768096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5760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Our questions for you: Is the spread tradable? How far back do options go? Which model fits ~30 meetings?</a:t>
            </a:r>
            <a:endParaRPr lang="en-US" sz="1500" dirty="0"/>
          </a:p>
        </p:txBody>
      </p:sp>
      <p:sp>
        <p:nvSpPr>
          <p:cNvPr id="21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2" name="part-tracker-1"/>
          <p:cNvSpPr txBox="1"/>
          <p:nvPr/>
        </p:nvSpPr>
        <p:spPr>
          <a:xfrm>
            <a:off x="7360920" y="310896"/>
            <a:ext cx="1261872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1  Calibration</a:t>
            </a:r>
          </a:p>
        </p:txBody>
      </p:sp>
      <p:sp>
        <p:nvSpPr>
          <p:cNvPr id="23" name="part-tracker-2"/>
          <p:cNvSpPr txBox="1"/>
          <p:nvPr/>
        </p:nvSpPr>
        <p:spPr>
          <a:xfrm>
            <a:off x="8695944" y="310896"/>
            <a:ext cx="1572768" cy="27432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tx2"/>
                </a:solidFill>
              </a:rPr>
              <a:t>2  Price discovery</a:t>
            </a:r>
          </a:p>
        </p:txBody>
      </p:sp>
      <p:sp>
        <p:nvSpPr>
          <p:cNvPr id="24" name="part-tracker-3"/>
          <p:cNvSpPr txBox="1"/>
          <p:nvPr/>
        </p:nvSpPr>
        <p:spPr>
          <a:xfrm>
            <a:off x="10341864" y="310896"/>
            <a:ext cx="12984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0"/>
              </a:spcAft>
              <a:buNone/>
            </a:pPr>
            <a:r>
              <a:rPr lang="en-US" sz="1000" b="1" dirty="0">
                <a:solidFill>
                  <a:schemeClr val="bg1"/>
                </a:solidFill>
              </a:rPr>
              <a:t>3 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25603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5000" b="1" dirty="0">
                <a:solidFill>
                  <a:schemeClr val="bg1"/>
                </a:solidFill>
              </a:rPr>
              <a:t>Appendix</a:t>
            </a:r>
            <a:endParaRPr lang="en-US" sz="5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731520" y="37033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Data  ·  Literature  ·  Replication  ·  Calibration  ·  CPI &amp; payrolls  ·  Futures  ·  Lead–lag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DATA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Dataset: every Kalshi trade and 1-minute quote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00_fetch_data_kalshi.py</a:t>
            </a:r>
            <a:endParaRPr lang="en-US" sz="1000" dirty="0"/>
          </a:p>
        </p:txBody>
      </p:sp>
      <p:sp>
        <p:nvSpPr>
          <p:cNvPr id="5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</a:t>
            </a:r>
            <a:endParaRPr lang="en-US" sz="1000" dirty="0"/>
          </a:p>
        </p:txBody>
      </p:sp>
      <p:graphicFrame>
        <p:nvGraphicFramePr>
          <p:cNvPr id="14" name="datase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959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Series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Events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Contracts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Trades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Volume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Since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Fed decision (KXFEDDECISION)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770,571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620M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Apr 2023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CPI m/m (KXCPI)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67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552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204,598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25.5M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Jul 2021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Core CPI m/m (KXCPICORE)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56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500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33,259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7.7M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Jul 2022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CPI y/y (KXCPIYOY)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49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713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241,413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37.9M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Dec 2022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Payrolls (KXPAYROLLS)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422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116,507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19.6M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Mar 2023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Fed funds ladders (KXFED)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52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660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~222,000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59M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Jul 2021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data-card-0"/>
          <p:cNvSpPr/>
          <p:nvPr/>
        </p:nvSpPr>
        <p:spPr>
          <a:xfrm>
            <a:off x="548640" y="4526280"/>
            <a:ext cx="351525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749808" y="4690872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Quotes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5056632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10.4M one-minute candles. 100% of 2,155 settled contracts match Kalshi’s reported volume within ±1%.</a:t>
            </a:r>
            <a:endParaRPr lang="en-US" sz="1400" dirty="0"/>
          </a:p>
        </p:txBody>
      </p:sp>
      <p:sp>
        <p:nvSpPr>
          <p:cNvPr id="10" name="data-card-1"/>
          <p:cNvSpPr/>
          <p:nvPr/>
        </p:nvSpPr>
        <p:spPr>
          <a:xfrm>
            <a:off x="4338218" y="4526280"/>
            <a:ext cx="351525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39386" y="4690872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Futures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39386" y="5056632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Bloomberg FF1–FF13, EFFR and target range, daily 2000–2026; 1-minute bid/ask bars Mar–Oct 2026.</a:t>
            </a:r>
            <a:endParaRPr lang="en-US" sz="1400" dirty="0"/>
          </a:p>
        </p:txBody>
      </p:sp>
      <p:sp>
        <p:nvSpPr>
          <p:cNvPr id="13" name="data-card-2"/>
          <p:cNvSpPr/>
          <p:nvPr/>
        </p:nvSpPr>
        <p:spPr>
          <a:xfrm>
            <a:off x="8127797" y="4526280"/>
            <a:ext cx="3515258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1"/>
          <p:cNvSpPr txBox="1"/>
          <p:nvPr/>
        </p:nvSpPr>
        <p:spPr>
          <a:xfrm>
            <a:off x="8328965" y="4690872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Fed outcomes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328965" y="5056632"/>
            <a:ext cx="311292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19 holds, 5 cuts of 25bp, 1 cut of 50bp (Sep 2024), 3 hikes of 25bp.</a:t>
            </a:r>
            <a:endParaRPr lang="en-US" sz="1400" dirty="0"/>
          </a:p>
        </p:txBody>
      </p:sp>
      <p:sp>
        <p:nvSpPr>
          <p:cNvPr id="16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LITERATURE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Literature: what is known and what we add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A2</a:t>
            </a:r>
            <a:endParaRPr lang="en-US" sz="1000" dirty="0"/>
          </a:p>
        </p:txBody>
      </p:sp>
      <p:graphicFrame>
        <p:nvGraphicFramePr>
          <p:cNvPr id="15" name="literatur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Paper</a:t>
                      </a:r>
                      <a:endParaRPr lang="en-US" sz="1400" dirty="0"/>
                    </a:p>
                  </a:txBody>
                  <a:tcPr marL="73152" marR="109728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Finding</a:t>
                      </a:r>
                      <a:endParaRPr lang="en-US" sz="1400" dirty="0"/>
                    </a:p>
                  </a:txBody>
                  <a:tcPr marL="73152" marR="109728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Gap we target</a:t>
                      </a:r>
                      <a:endParaRPr lang="en-US" sz="1400" dirty="0"/>
                    </a:p>
                  </a:txBody>
                  <a:tcPr marL="73152" marR="109728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Diercks, Katz &amp; Wright (2026)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Kalshi distributions for fed funds, CPI, GDP; CPI beats Bloomberg consensus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No Brier/log scores, no bias test, daily only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Bürgi, Deng &amp; Whelan (2026)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Strong favorite–longshot bias overall; weak in economics contracts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Test on macro with clean specification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Bartlett &amp; O’Hara (2026)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Microstructure of 41.6M Kalshi trades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No forecast evaluation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Wolfers &amp; Zitzewitz (2004)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Contract design reveals mean, median, distribution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Early evidence: 16 obs.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Kelly et al. (2026)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Transformer stochastic discount factor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accent1"/>
                          </a:solidFill>
                        </a:rPr>
                        <a:t>Only regularized ideas fit our sample (RQ3)</a:t>
                      </a:r>
                      <a:endParaRPr lang="en-US" sz="1400" dirty="0"/>
                    </a:p>
                  </a:txBody>
                  <a:tcPr marL="73152" marR="109728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REPLICATION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Kalshi-implied rate paths vs. the realized target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Each line: the path the market implied on one date; red steps: the actual upper bound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kalshi_fed/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A3</a:t>
            </a:r>
            <a:endParaRPr lang="en-US" sz="1000" dirty="0"/>
          </a:p>
        </p:txBody>
      </p:sp>
      <p:pic>
        <p:nvPicPr>
          <p:cNvPr id="7" name="fig-paths" descr="fig/pat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11094415" cy="41109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REPLICATION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Replication accuracy by horizon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kalshi_fed/data/validation.json</a:t>
            </a:r>
            <a:endParaRPr lang="en-US" sz="1000" dirty="0"/>
          </a:p>
        </p:txBody>
      </p:sp>
      <p:sp>
        <p:nvSpPr>
          <p:cNvPr id="5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A4</a:t>
            </a:r>
            <a:endParaRPr lang="en-US" sz="1000" dirty="0"/>
          </a:p>
        </p:txBody>
      </p:sp>
      <p:pic>
        <p:nvPicPr>
          <p:cNvPr id="6" name="fig-replh" descr="fig/repl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949440" cy="397665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01000" y="1737360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vs. NY Fed dealer survey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121408"/>
            <a:ext cx="36393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132 forecasts, 37 meetings: survey 19.1bp, Kalshi mode 17.0bp.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3026664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Method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001000" y="3410712"/>
            <a:ext cx="36393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Mid quote if spread ≤ 20¢, else last trade (20–40¢) or dropped; weighted isotonic fit across strikes.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001000" y="4562856"/>
            <a:ext cx="36393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On DKW’s 2022–25 window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4946904"/>
            <a:ext cx="3639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19.9 vs. 22.7bp (1–160 days).</a:t>
            </a:r>
            <a:endParaRPr lang="en-US" sz="1500" dirty="0"/>
          </a:p>
        </p:txBody>
      </p:sp>
      <p:sp>
        <p:nvSpPr>
          <p:cNvPr id="13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CALIBRATION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Calibration regression: estimates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Logit of outcome on logit of price; meeting-clustered SEs; 999-draw cluster bootstrap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02_calibration_kalshi.py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A5</a:t>
            </a:r>
            <a:endParaRPr lang="en-US" sz="1000" dirty="0"/>
          </a:p>
        </p:txBody>
      </p:sp>
      <p:graphicFrame>
        <p:nvGraphicFramePr>
          <p:cNvPr id="18" name="calibr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Horizon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Obs. / meetings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α (SE)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β (SE)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β 95% CI (boot)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p(β = 1)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 joint (boot)</a:t>
                      </a:r>
                      <a:endParaRPr lang="en-US" sz="1400" dirty="0"/>
                    </a:p>
                  </a:txBody>
                  <a:tcPr marL="73152" marR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1–21 days (main)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454 / 28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0.141 (0.030)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1.751 (0.453)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[1.22, 3.54]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0.097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0.010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 days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78 / 27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0.165 (0.062)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1.723 (0.533)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[1.11, 2.77]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0.175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0.008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45–60 days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100 / 18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0.445 (0.186)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3.133 (1.058)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[1.97, 13.66]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0.044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0.189</a:t>
                      </a:r>
                      <a:endParaRPr lang="en-US" sz="1400" dirty="0"/>
                    </a:p>
                  </a:txBody>
                  <a:tcPr marL="73152" marR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calib-card-0"/>
          <p:cNvSpPr/>
          <p:nvPr/>
        </p:nvSpPr>
        <p:spPr>
          <a:xfrm>
            <a:off x="548640" y="393192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777240" y="411480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β &gt; 1 at every horizon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4535424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Under-confident prices: the favorite–longshot pattern.</a:t>
            </a:r>
            <a:endParaRPr lang="en-US" sz="1500" dirty="0"/>
          </a:p>
        </p:txBody>
      </p:sp>
      <p:sp>
        <p:nvSpPr>
          <p:cNvPr id="11" name="calib-card-1"/>
          <p:cNvSpPr/>
          <p:nvPr/>
        </p:nvSpPr>
        <p:spPr>
          <a:xfrm>
            <a:off x="6233008" y="3931920"/>
            <a:ext cx="5410048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6461608" y="4114800"/>
            <a:ext cx="495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α &gt; 0 is significant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61608" y="4535424"/>
            <a:ext cx="495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YES side of the normalized buckets pays slightly more than priced.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4406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Sample: normalized prices at 16:00 ET, tick-floor contracts excluded; 632 of 1,384 forecasts.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CALIBRATION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No detectable change after the liquidity jump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Fitted calibration curves, 1–21 days: 16 meetings before May 2025, 12 from May 2025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02_calibration_kalshi.py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A6</a:t>
            </a:r>
            <a:endParaRPr lang="en-US" sz="1000" dirty="0"/>
          </a:p>
        </p:txBody>
      </p:sp>
      <p:pic>
        <p:nvPicPr>
          <p:cNvPr id="7" name="fig-calregime" descr="fig/calreg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54" y="1783080"/>
            <a:ext cx="6936332" cy="4389120"/>
          </a:xfrm>
          <a:prstGeom prst="rect">
            <a:avLst/>
          </a:prstGeom>
        </p:spPr>
      </p:pic>
      <p:sp>
        <p:nvSpPr>
          <p:cNvPr id="8" name="stat-0"/>
          <p:cNvSpPr txBox="1"/>
          <p:nvPr/>
        </p:nvSpPr>
        <p:spPr>
          <a:xfrm>
            <a:off x="8229600" y="182880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1.49 → 2.35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50592"/>
            <a:ext cx="3410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β before vs. from May 2025</a:t>
            </a:r>
            <a:endParaRPr lang="en-US" sz="1500" dirty="0"/>
          </a:p>
        </p:txBody>
      </p:sp>
      <p:sp>
        <p:nvSpPr>
          <p:cNvPr id="10" name="stat-1"/>
          <p:cNvSpPr txBox="1"/>
          <p:nvPr/>
        </p:nvSpPr>
        <p:spPr>
          <a:xfrm>
            <a:off x="8229600" y="301752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p = 0.19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639312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difference in β (joint test p = 0.36, bootstrap)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453128"/>
            <a:ext cx="3410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A large p-value means no detectable change, not no change. The regimes also differ in policy: mostly holds before, cuts after.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CALIBRATION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Accuracy fades with horizon, and single surprises dominate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Log loss per meeting by days to meeting; labelled points are the largest misses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02_calibration_kalshi.py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A7</a:t>
            </a:r>
            <a:endParaRPr lang="en-US" sz="1000" dirty="0"/>
          </a:p>
        </p:txBody>
      </p:sp>
      <p:pic>
        <p:nvPicPr>
          <p:cNvPr id="7" name="fig-logloss" descr="fig/log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6777" y="1783080"/>
            <a:ext cx="6998141" cy="3931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Mean log score 0.07 at 1 day, 0.28 at 30 days; median at 1–21 days 0.05 vs. mean 0.14.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CALIBRATION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Daily snapshots show the same S-shape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Main specification: 16:00 ET mid, normalized, 1–21 days; 632 forecasts, 28 meetings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02_calibration_kalshi.py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A8</a:t>
            </a:r>
            <a:endParaRPr lang="en-US" sz="1000" dirty="0"/>
          </a:p>
        </p:txBody>
      </p:sp>
      <p:pic>
        <p:nvPicPr>
          <p:cNvPr id="7" name="fig-daily" descr="fig/da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339" y="1783080"/>
            <a:ext cx="6322362" cy="4389120"/>
          </a:xfrm>
          <a:prstGeom prst="rect">
            <a:avLst/>
          </a:prstGeom>
        </p:spPr>
      </p:pic>
      <p:sp>
        <p:nvSpPr>
          <p:cNvPr id="8" name="stat-0"/>
          <p:cNvSpPr txBox="1"/>
          <p:nvPr/>
        </p:nvSpPr>
        <p:spPr>
          <a:xfrm>
            <a:off x="8229600" y="182880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0.5%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50592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payout rate of contracts priced 1–10¢ (avg. price 3.1¢)</a:t>
            </a:r>
            <a:endParaRPr lang="en-US" sz="1500" dirty="0"/>
          </a:p>
        </p:txBody>
      </p:sp>
      <p:sp>
        <p:nvSpPr>
          <p:cNvPr id="10" name="stat-1"/>
          <p:cNvSpPr txBox="1"/>
          <p:nvPr/>
        </p:nvSpPr>
        <p:spPr>
          <a:xfrm>
            <a:off x="8229600" y="3264408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99.3%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886200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payout rate of contracts priced 90–99¢ (avg. 95.3¢)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00016"/>
            <a:ext cx="3410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Bubble size = forecasts. Middle bins hold 2–6 meetings each. This sample feeds the calibration regression.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CALIBRATION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Specification fixed before any significance test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A9</a:t>
            </a:r>
            <a:endParaRPr lang="en-US" sz="1000" dirty="0"/>
          </a:p>
        </p:txBody>
      </p:sp>
      <p:sp>
        <p:nvSpPr>
          <p:cNvPr id="5" name="spec-0"/>
          <p:cNvSpPr/>
          <p:nvPr/>
        </p:nvSpPr>
        <p:spPr>
          <a:xfrm>
            <a:off x="548640" y="1554480"/>
            <a:ext cx="5410048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49808" y="155448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Forecast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423160" y="1554480"/>
            <a:ext cx="3352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16:00 ET bid–ask mid, h ∈ {1, 2, 3, 5, 7, 10, 14, 21, 30, 45, 60} days before.</a:t>
            </a:r>
            <a:endParaRPr lang="en-US" sz="1400" dirty="0"/>
          </a:p>
        </p:txBody>
      </p:sp>
      <p:sp>
        <p:nvSpPr>
          <p:cNvPr id="8" name="spec-1"/>
          <p:cNvSpPr/>
          <p:nvPr/>
        </p:nvSpPr>
        <p:spPr>
          <a:xfrm>
            <a:off x="6233008" y="1554480"/>
            <a:ext cx="5410048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34176" y="1554480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Horizon groups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07528" y="1554480"/>
            <a:ext cx="3352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1–21 days (main), 30, 45–60.</a:t>
            </a:r>
            <a:endParaRPr lang="en-US" sz="1400" dirty="0"/>
          </a:p>
        </p:txBody>
      </p:sp>
      <p:sp>
        <p:nvSpPr>
          <p:cNvPr id="11" name="spec-2"/>
          <p:cNvSpPr/>
          <p:nvPr/>
        </p:nvSpPr>
        <p:spPr>
          <a:xfrm>
            <a:off x="548640" y="2578608"/>
            <a:ext cx="5410048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49808" y="2578608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Normalization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423160" y="2578608"/>
            <a:ext cx="3352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Fed buckets normalized to sum to 1 (overround ≈ 1.5%); raw as robustness.</a:t>
            </a:r>
            <a:endParaRPr lang="en-US" sz="1400" dirty="0"/>
          </a:p>
        </p:txBody>
      </p:sp>
      <p:sp>
        <p:nvSpPr>
          <p:cNvPr id="14" name="spec-3"/>
          <p:cNvSpPr/>
          <p:nvPr/>
        </p:nvSpPr>
        <p:spPr>
          <a:xfrm>
            <a:off x="6233008" y="2578608"/>
            <a:ext cx="5410048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434176" y="2578608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Tick floor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07528" y="2578608"/>
            <a:ext cx="3352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Quotes below 1¢ (0¢ bid) excluded; included as robustness.</a:t>
            </a:r>
            <a:endParaRPr lang="en-US" sz="1400" dirty="0"/>
          </a:p>
        </p:txBody>
      </p:sp>
      <p:sp>
        <p:nvSpPr>
          <p:cNvPr id="17" name="spec-4"/>
          <p:cNvSpPr/>
          <p:nvPr/>
        </p:nvSpPr>
        <p:spPr>
          <a:xfrm>
            <a:off x="548640" y="3602736"/>
            <a:ext cx="5410048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749808" y="3602736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Stale quotes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423160" y="3602736"/>
            <a:ext cx="3352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Kept and flagged; drop-stale as robustness. No spread filter.</a:t>
            </a:r>
            <a:endParaRPr lang="en-US" sz="1400" dirty="0"/>
          </a:p>
        </p:txBody>
      </p:sp>
      <p:sp>
        <p:nvSpPr>
          <p:cNvPr id="20" name="spec-5"/>
          <p:cNvSpPr/>
          <p:nvPr/>
        </p:nvSpPr>
        <p:spPr>
          <a:xfrm>
            <a:off x="6233008" y="3602736"/>
            <a:ext cx="5410048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434176" y="3602736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Scores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07528" y="3602736"/>
            <a:ext cx="3352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Per contract (log loss, calibration regression) and per meeting (log score, Brier).</a:t>
            </a:r>
            <a:endParaRPr lang="en-US" sz="1400" dirty="0"/>
          </a:p>
        </p:txBody>
      </p:sp>
      <p:sp>
        <p:nvSpPr>
          <p:cNvPr id="23" name="spec-6"/>
          <p:cNvSpPr/>
          <p:nvPr/>
        </p:nvSpPr>
        <p:spPr>
          <a:xfrm>
            <a:off x="548640" y="4626864"/>
            <a:ext cx="5410048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749808" y="4626864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Minute data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423160" y="4626864"/>
            <a:ext cx="3352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Minute-level results are descriptive only.</a:t>
            </a:r>
            <a:endParaRPr lang="en-US" sz="1400" dirty="0"/>
          </a:p>
        </p:txBody>
      </p:sp>
      <p:sp>
        <p:nvSpPr>
          <p:cNvPr id="26" name="spec-7"/>
          <p:cNvSpPr/>
          <p:nvPr/>
        </p:nvSpPr>
        <p:spPr>
          <a:xfrm>
            <a:off x="6233008" y="4626864"/>
            <a:ext cx="5410048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434176" y="4626864"/>
            <a:ext cx="1600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Exclusions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107528" y="4626864"/>
            <a:ext cx="33526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Voided contracts and one untraded duplicate Fed event dropped.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Why: </a:t>
            </a:r>
            <a:r>
              <a:rPr lang="en-US" sz="1500" dirty="0">
                <a:solidFill>
                  <a:schemeClr val="tx1"/>
                </a:solidFill>
              </a:rPr>
              <a:t>with about 28 meetings the test has low power, so the specification is fixed in advance.</a:t>
            </a:r>
            <a:endParaRPr lang="en-US" sz="1500" dirty="0"/>
          </a:p>
        </p:txBody>
      </p:sp>
      <p:sp>
        <p:nvSpPr>
          <p:cNvPr id="30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31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CPI &amp; PAYROLLS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CPI is under-confident, payrolls over-confident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1–21 days before the release; 18,049 forecasts, 203 releases; SEs clustered by release date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03_calibration_macro.py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A10</a:t>
            </a:r>
            <a:endParaRPr lang="en-US" sz="1000" dirty="0"/>
          </a:p>
        </p:txBody>
      </p:sp>
      <p:pic>
        <p:nvPicPr>
          <p:cNvPr id="7" name="fig-macro" descr="fig/mac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217920" cy="4017110"/>
          </a:xfrm>
          <a:prstGeom prst="rect">
            <a:avLst/>
          </a:prstGeom>
        </p:spPr>
      </p:pic>
      <p:graphicFrame>
        <p:nvGraphicFramePr>
          <p:cNvPr id="23" name="macro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78040" y="1874520"/>
          <a:ext cx="4462272" cy="9144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8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Series</a:t>
                      </a:r>
                      <a:endParaRPr lang="en-US" sz="1400" dirty="0"/>
                    </a:p>
                  </a:txBody>
                  <a:tcPr marL="54864" marR="54864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β (SE)</a:t>
                      </a:r>
                      <a:endParaRPr lang="en-US" sz="1400" dirty="0"/>
                    </a:p>
                  </a:txBody>
                  <a:tcPr marL="54864" marR="54864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p(β = 1)</a:t>
                      </a:r>
                      <a:endParaRPr lang="en-US" sz="1400" dirty="0"/>
                    </a:p>
                  </a:txBody>
                  <a:tcPr marL="54864" marR="54864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CPI m/m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1.20 (0.10)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0.043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Core CPI m/m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1.25 (0.11)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0.025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CPI y/y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1.40 (0.19)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0.033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Payrolls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0.75 (0.10)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0.015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CPI pooled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1.28 (0.10)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0.005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All series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1.11 (0.07)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0.123</a:t>
                      </a:r>
                      <a:endParaRPr lang="en-US" sz="1400" dirty="0"/>
                    </a:p>
                  </a:txBody>
                  <a:tcPr marL="54864" marR="54864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178040" y="4892040"/>
            <a:ext cx="4462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Every α is insignificant. Ladder contracts are not exclusive, so prices are not normalized.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FUTURES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How futures-implied probabilities are computed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Literature/fed_funds_implied_probabilities.pdf</a:t>
            </a:r>
            <a:endParaRPr lang="en-US" sz="1000" dirty="0"/>
          </a:p>
        </p:txBody>
      </p:sp>
      <p:sp>
        <p:nvSpPr>
          <p:cNvPr id="5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15544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Monthly average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190195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FFn settles on the average EFFR of month n − 1, so the implied average for month j is r̄</a:t>
            </a:r>
            <a:r>
              <a:rPr lang="en-US" sz="1400" baseline="-40000" dirty="0">
                <a:solidFill>
                  <a:schemeClr val="tx1"/>
                </a:solidFill>
              </a:rPr>
              <a:t>j</a:t>
            </a:r>
            <a:r>
              <a:rPr lang="en-US" sz="1400" dirty="0">
                <a:solidFill>
                  <a:schemeClr val="tx1"/>
                </a:solidFill>
              </a:rPr>
              <a:t> = 100 − P</a:t>
            </a:r>
            <a:r>
              <a:rPr lang="en-US" sz="1400" baseline="-40000" dirty="0">
                <a:solidFill>
                  <a:schemeClr val="tx1"/>
                </a:solidFill>
              </a:rPr>
              <a:t>j+1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15568" y="260604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Un-blend the meeting month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295351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meeting on day d of an N-day month splits it: r̄</a:t>
            </a:r>
            <a:r>
              <a:rPr lang="en-US" sz="1400" baseline="-40000" dirty="0">
                <a:solidFill>
                  <a:schemeClr val="tx1"/>
                </a:solidFill>
              </a:rPr>
              <a:t>j</a:t>
            </a:r>
            <a:r>
              <a:rPr lang="en-US" sz="1400" dirty="0">
                <a:solidFill>
                  <a:schemeClr val="tx1"/>
                </a:solidFill>
              </a:rPr>
              <a:t> = (d/N) r</a:t>
            </a:r>
            <a:r>
              <a:rPr lang="en-US" sz="1400" baseline="-40000" dirty="0">
                <a:solidFill>
                  <a:schemeClr val="tx1"/>
                </a:solidFill>
              </a:rPr>
              <a:t>pre</a:t>
            </a:r>
            <a:r>
              <a:rPr lang="en-US" sz="1400" dirty="0">
                <a:solidFill>
                  <a:schemeClr val="tx1"/>
                </a:solidFill>
              </a:rPr>
              <a:t> + ((N − d)/N) r</a:t>
            </a:r>
            <a:r>
              <a:rPr lang="en-US" sz="1400" baseline="-40000" dirty="0">
                <a:solidFill>
                  <a:schemeClr val="tx1"/>
                </a:solidFill>
              </a:rPr>
              <a:t>post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Method A</a:t>
            </a:r>
            <a:r>
              <a:rPr lang="en-US" sz="1400" dirty="0">
                <a:solidFill>
                  <a:schemeClr val="tx1"/>
                </a:solidFill>
              </a:rPr>
              <a:t> solves for r</a:t>
            </a:r>
            <a:r>
              <a:rPr lang="en-US" sz="1400" baseline="-40000" dirty="0">
                <a:solidFill>
                  <a:schemeClr val="tx1"/>
                </a:solidFill>
              </a:rPr>
              <a:t>post</a:t>
            </a:r>
            <a:r>
              <a:rPr lang="en-US" sz="1400" dirty="0">
                <a:solidFill>
                  <a:schemeClr val="tx1"/>
                </a:solidFill>
              </a:rPr>
              <a:t> and amplifies noise by N/(N − d).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Method B (preferred)</a:t>
            </a:r>
            <a:r>
              <a:rPr lang="en-US" sz="1400" dirty="0">
                <a:solidFill>
                  <a:schemeClr val="tx1"/>
                </a:solidFill>
              </a:rPr>
              <a:t> takes r</a:t>
            </a:r>
            <a:r>
              <a:rPr lang="en-US" sz="1400" baseline="-40000" dirty="0">
                <a:solidFill>
                  <a:schemeClr val="tx1"/>
                </a:solidFill>
              </a:rPr>
              <a:t>post</a:t>
            </a:r>
            <a:r>
              <a:rPr lang="en-US" sz="1400" dirty="0">
                <a:solidFill>
                  <a:schemeClr val="tx1"/>
                </a:solidFill>
              </a:rPr>
              <a:t> from the next meeting-free month.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873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06908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Chain meetings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4416552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start rate is the range midpoint plus a 10-day median EFFR spread.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0474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50292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Expected move → probabilities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" y="5376672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x in 25bp steps; with n = floor(x) and p = x − n, the move is n steps w.p. 1 − p and n + 1 steps w.p. p.</a:t>
            </a:r>
            <a:endParaRPr lang="en-US" sz="1400" dirty="0"/>
          </a:p>
        </p:txBody>
      </p:sp>
      <p:sp>
        <p:nvSpPr>
          <p:cNvPr id="22" name="checks"/>
          <p:cNvSpPr/>
          <p:nvPr/>
        </p:nvSpPr>
        <p:spPr>
          <a:xfrm>
            <a:off x="8595360" y="1554480"/>
            <a:ext cx="3047695" cy="4206240"/>
          </a:xfrm>
          <a:prstGeom prst="roundRect">
            <a:avLst>
              <a:gd name="adj" fmla="val 2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8869680" y="1783080"/>
            <a:ext cx="24990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Checks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8869680" y="2240280"/>
            <a:ext cx="2499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2,909</a:t>
            </a:r>
            <a:endParaRPr lang="en-US" sz="3600" dirty="0"/>
          </a:p>
        </p:txBody>
      </p:sp>
      <p:sp>
        <p:nvSpPr>
          <p:cNvPr id="25" name="Text 23"/>
          <p:cNvSpPr txBox="1"/>
          <p:nvPr/>
        </p:nvSpPr>
        <p:spPr>
          <a:xfrm>
            <a:off x="8869680" y="2852928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(meeting, date) pairs, all summing to 1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0" y="3703320"/>
            <a:ext cx="24990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1.4bp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8869680" y="4315968"/>
            <a:ext cx="2499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median gap between Methods A and B</a:t>
            </a:r>
            <a:endParaRPr lang="en-US" sz="1500" dirty="0"/>
          </a:p>
        </p:txBody>
      </p:sp>
      <p:sp>
        <p:nvSpPr>
          <p:cNvPr id="28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FUTURES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Kalshi and futures are similarly under-confident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Hold and ±25bp outcomes, both read at 15:00 ET and scored against the decision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03_fedfunds_vs_kalshi.py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A12</a:t>
            </a:r>
            <a:endParaRPr lang="en-US" sz="1000" dirty="0"/>
          </a:p>
        </p:txBody>
      </p:sp>
      <p:pic>
        <p:nvPicPr>
          <p:cNvPr id="7" name="fig-kvf" descr="fig/kv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471" y="1783080"/>
            <a:ext cx="6042099" cy="4389120"/>
          </a:xfrm>
          <a:prstGeom prst="rect">
            <a:avLst/>
          </a:prstGeom>
        </p:spPr>
      </p:pic>
      <p:sp>
        <p:nvSpPr>
          <p:cNvPr id="8" name="stat-0"/>
          <p:cNvSpPr txBox="1"/>
          <p:nvPr/>
        </p:nvSpPr>
        <p:spPr>
          <a:xfrm>
            <a:off x="8229600" y="1828800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2.14 vs. 2.48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2450592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calibration slope β, Kalshi vs. futures (1–21 days): both under-confident</a:t>
            </a:r>
            <a:endParaRPr lang="en-US" sz="1500" dirty="0"/>
          </a:p>
        </p:txBody>
      </p:sp>
      <p:sp>
        <p:nvSpPr>
          <p:cNvPr id="10" name="stat-1"/>
          <p:cNvSpPr txBox="1"/>
          <p:nvPr/>
        </p:nvSpPr>
        <p:spPr>
          <a:xfrm>
            <a:off x="8229600" y="3264408"/>
            <a:ext cx="3410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0.039 vs. 0.046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3886200"/>
            <a:ext cx="34107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Brier score at 30 days, Kalshi vs. futures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00016"/>
            <a:ext cx="341071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Kalshi scores better at 1–30 days, futures at 45–60 days (few meetings). Kalshi prices moves beyond 25bp higher.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FUTURES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Kalshi and futures agree closely near the meeting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Mean absolute gap in probability, hold and ±25bp outcomes; 14,513 contract-days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03_fedfunds_vs_kalshi.py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A13</a:t>
            </a:r>
            <a:endParaRPr lang="en-US" sz="1000" dirty="0"/>
          </a:p>
        </p:txBody>
      </p:sp>
      <p:graphicFrame>
        <p:nvGraphicFramePr>
          <p:cNvPr id="7" name="gap-by-horizon"/>
          <p:cNvGraphicFramePr/>
          <p:nvPr/>
        </p:nvGraphicFramePr>
        <p:xfrm>
          <a:off x="1463040" y="1783080"/>
          <a:ext cx="9262872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4"/>
                </a:solidFill>
              </a:rPr>
              <a:t>Correlation falls from 0.998 (1 day) to 0.928 (121+ days).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FUTURES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Reliability: futures vs. Kalshi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Hold and ±25bp outcomes, 1–30 days pooled; bins from 0.3 to 0.6 hold 2–5 meetings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03_fedfunds_vs_kalshi.py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A14</a:t>
            </a:r>
            <a:endParaRPr lang="en-US" sz="1000" dirty="0"/>
          </a:p>
        </p:txBody>
      </p:sp>
      <p:pic>
        <p:nvPicPr>
          <p:cNvPr id="7" name="fig-rel" descr="fig/r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484" y="1783080"/>
            <a:ext cx="6058727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FUTURES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Scores: Kalshi vs. futures by horizon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Red: the lower (better) score at each horizon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03_fedfunds_vs_kalshi.py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A15</a:t>
            </a:r>
            <a:endParaRPr lang="en-US" sz="1000" dirty="0"/>
          </a:p>
        </p:txBody>
      </p:sp>
      <p:graphicFrame>
        <p:nvGraphicFramePr>
          <p:cNvPr id="28" name="score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4415" cy="914400"/>
        </p:xfrm>
        <a:graphic>
          <a:graphicData uri="http://schemas.openxmlformats.org/drawingml/2006/table">
            <a:tbl>
              <a:tblPr/>
              <a:tblGrid>
                <a:gridCol w="2862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Days before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45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60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Brier, futures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0.0049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0.0198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0.0425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0.0459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0.0222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0.0532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Brier, Kalshi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0.0044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0.0191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0.0383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0.0392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0.0310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0.0755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Log loss, futures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0.035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0.081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0.148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0.170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0.113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0.192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Log loss, Kalshi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0.030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0.084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0.138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0.153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0.142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0.253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cores-note"/>
          <p:cNvSpPr/>
          <p:nvPr/>
        </p:nvSpPr>
        <p:spPr>
          <a:xfrm>
            <a:off x="548640" y="4663440"/>
            <a:ext cx="11094415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466344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28 meetings at 1–21 days, 8 at 60 days. Probabilities clipped to [0.005, 0.995].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LEAD–LAG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Lead–lag: data and method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04_leadlag_fedfunds_kalshi.py</a:t>
            </a:r>
            <a:endParaRPr lang="en-US" sz="1000" dirty="0"/>
          </a:p>
        </p:txBody>
      </p:sp>
      <p:sp>
        <p:nvSpPr>
          <p:cNvPr id="5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A16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544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Futures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1554480"/>
            <a:ext cx="9082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Bloomberg 1-minute bid/ask bars, 30 Mar – 12 Oct 2026, contracts Mar–Dec 2026; expected move per minute with the daily method (A or B per meeting). Median spread 0.5bp.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86584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441448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Kalshi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441448"/>
            <a:ext cx="9082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Expected move Σ</a:t>
            </a:r>
            <a:r>
              <a:rPr lang="en-US" sz="1400" baseline="-40000" dirty="0">
                <a:solidFill>
                  <a:schemeClr val="tx1"/>
                </a:solidFill>
              </a:rPr>
              <a:t>k</a:t>
            </a:r>
            <a:r>
              <a:rPr lang="en-US" sz="1400" dirty="0">
                <a:solidFill>
                  <a:schemeClr val="tx1"/>
                </a:solidFill>
              </a:rPr>
              <a:t> q</a:t>
            </a:r>
            <a:r>
              <a:rPr lang="en-US" sz="1400" baseline="-40000" dirty="0">
                <a:solidFill>
                  <a:schemeClr val="tx1"/>
                </a:solidFill>
              </a:rPr>
              <a:t>k</a:t>
            </a:r>
            <a:r>
              <a:rPr lang="en-US" sz="1400" dirty="0">
                <a:solidFill>
                  <a:schemeClr val="tx1"/>
                </a:solidFill>
              </a:rPr>
              <a:t> · move</a:t>
            </a:r>
            <a:r>
              <a:rPr lang="en-US" sz="1400" baseline="-40000" dirty="0">
                <a:solidFill>
                  <a:schemeClr val="tx1"/>
                </a:solidFill>
              </a:rPr>
              <a:t>k</a:t>
            </a:r>
            <a:r>
              <a:rPr lang="en-US" sz="1400" dirty="0">
                <a:solidFill>
                  <a:schemeClr val="tx1"/>
                </a:solidFill>
              </a:rPr>
              <a:t> from 1-minute bucket mids, rescaled to sum to 1, carried onto the CME minute grid.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328416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Alignment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328416"/>
            <a:ext cx="9082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Bloomberg bars are labelled by start minute, so they are shifted one minute to match Kalshi. Without it the futures appear to lead by exactly one minute.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48640" y="4215384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Validation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560320" y="4215384"/>
            <a:ext cx="90827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At 15:00 the minute series matches daily settlements: 135 days, correlation 0.998, median gap 0.27bp.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047488"/>
            <a:ext cx="11094415" cy="0"/>
          </a:xfrm>
          <a:prstGeom prst="line">
            <a:avLst/>
          </a:prstGeom>
          <a:noFill/>
          <a:ln w="9525">
            <a:solidFill>
              <a:schemeClr val="accent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48640" y="5102352"/>
            <a:ext cx="1828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2560320" y="5102352"/>
            <a:ext cx="90827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 5-minute changes (95% of futures and 92% of Kalshi changes are zero): cross-correlations, Granger regressions with 6 lags clustered by session, and paths after the largest 0.1% of 1-minute moves.</a:t>
            </a:r>
            <a:endParaRPr lang="en-US" sz="1400" dirty="0"/>
          </a:p>
        </p:txBody>
      </p:sp>
      <p:sp>
        <p:nvSpPr>
          <p:cNvPr id="20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LEAD–LAG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The two markets track the same expectations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Expected move at the 16 Sep 2026 meeting, every 15 minutes (CME hours)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04_leadlag_fedfunds_kalshi.py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A17</a:t>
            </a:r>
            <a:endParaRPr lang="en-US" sz="1000" dirty="0"/>
          </a:p>
        </p:txBody>
      </p:sp>
      <p:pic>
        <p:nvPicPr>
          <p:cNvPr id="7" name="fig-sep26" descr="fig/sep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21" y="1828800"/>
            <a:ext cx="10950253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LEAD–LAG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Granger tests: futures predict Kalshi, much less the reverse</a:t>
            </a:r>
            <a:endParaRPr lang="en-US" sz="2800" dirty="0"/>
          </a:p>
        </p:txBody>
      </p:sp>
      <p:sp>
        <p:nvSpPr>
          <p:cNvPr id="4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04_leadlag_fedfunds_kalshi.py</a:t>
            </a:r>
            <a:endParaRPr lang="en-US" sz="1000" dirty="0"/>
          </a:p>
        </p:txBody>
      </p:sp>
      <p:sp>
        <p:nvSpPr>
          <p:cNvPr id="5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A18</a:t>
            </a:r>
            <a:endParaRPr lang="en-US" sz="1000" dirty="0"/>
          </a:p>
        </p:txBody>
      </p:sp>
      <p:graphicFrame>
        <p:nvGraphicFramePr>
          <p:cNvPr id="31" name="granger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4754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Question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Wald χ² (6 df)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p-value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Sum of cross lags (SE)</a:t>
                      </a:r>
                      <a:endParaRPr lang="en-US" sz="1400" dirty="0"/>
                    </a:p>
                  </a:txBody>
                  <a:tcPr marL="73152" marT="0" marB="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 past futures moves predict Kalshi?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30.30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&lt;0.001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0.133 (0.030)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1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Do past Kalshi moves predict futures?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12.02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0.062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0.279 (0.090)</a:t>
                      </a:r>
                      <a:endParaRPr lang="en-US" sz="1400" dirty="0"/>
                    </a:p>
                  </a:txBody>
                  <a:tcPr marL="73152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5204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accent4"/>
                </a:solidFill>
              </a:rPr>
              <a:t>37,632 five-minute changes, 140 sessions (all CME hours), 6 lags = 30 minutes, SEs clustered by session.</a:t>
            </a:r>
            <a:endParaRPr lang="en-US" sz="1500" dirty="0"/>
          </a:p>
        </p:txBody>
      </p:sp>
      <p:sp>
        <p:nvSpPr>
          <p:cNvPr id="8" name="caveats"/>
          <p:cNvSpPr/>
          <p:nvPr/>
        </p:nvSpPr>
        <p:spPr>
          <a:xfrm>
            <a:off x="548640" y="4160520"/>
            <a:ext cx="11094415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22960" y="4343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Caveats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70916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About 140 days and five meetings; mostly-zero changes; different tick sizes (futures 0.25–0.5bp, Kalshi 0.25bp per cent); quotes, not trades.</a:t>
            </a:r>
            <a:endParaRPr lang="en-US" sz="1500" dirty="0"/>
          </a:p>
        </p:txBody>
      </p:sp>
      <p:sp>
        <p:nvSpPr>
          <p:cNvPr id="11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chemeClr val="accent1"/>
                </a:solidFill>
              </a:rPr>
              <a:t>APPENDIX · LEAD–LAG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40080"/>
            <a:ext cx="110944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</a:rPr>
              <a:t>After a large move, the other market follows only partly</a:t>
            </a:r>
            <a:endParaRPr lang="en-US" sz="2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1225296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/>
                </a:solidFill>
              </a:rPr>
              <a:t>Cumulative change divided by the size of the move, top 0.1% of 1-minute moves</a:t>
            </a:r>
            <a:endParaRPr lang="en-US" sz="1600" dirty="0"/>
          </a:p>
        </p:txBody>
      </p:sp>
      <p:sp>
        <p:nvSpPr>
          <p:cNvPr id="5" name="Text 1"/>
          <p:cNvSpPr>
            <a:spLocks noGrp="1"/>
          </p:cNvSpPr>
          <p:nvPr>
            <p:ph type="body" idx="104" hasCustomPrompt="1"/>
          </p:nvPr>
        </p:nvSpPr>
        <p:spPr>
          <a:xfrm>
            <a:off x="2468880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04_leadlag_fedfunds_kalshi.py</a:t>
            </a:r>
            <a:endParaRPr lang="en-US" sz="1000" dirty="0"/>
          </a:p>
        </p:txBody>
      </p:sp>
      <p:sp>
        <p:nvSpPr>
          <p:cNvPr id="6" name="Text 1"/>
          <p:cNvSpPr>
            <a:spLocks noGrp="1"/>
          </p:cNvSpPr>
          <p:nvPr>
            <p:ph type="body" idx="105" hasCustomPrompt="1"/>
          </p:nvPr>
        </p:nvSpPr>
        <p:spPr>
          <a:xfrm>
            <a:off x="9811512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accent4"/>
                </a:solidFill>
              </a:rPr>
              <a:t>A19</a:t>
            </a:r>
            <a:endParaRPr lang="en-US" sz="1000" dirty="0"/>
          </a:p>
        </p:txBody>
      </p:sp>
      <p:pic>
        <p:nvPicPr>
          <p:cNvPr id="7" name="fig-large" descr="fig/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305" y="1783080"/>
            <a:ext cx="8389086" cy="3749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55778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Futures moves (210, avg. 1.29bp): </a:t>
            </a:r>
            <a:r>
              <a:rPr lang="en-US" sz="1400" dirty="0">
                <a:solidFill>
                  <a:schemeClr val="tx1"/>
                </a:solidFill>
              </a:rPr>
              <a:t>Kalshi follows 16% within 15 minutes, 20% within 2 hours.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Kalshi moves (195, avg. 0.58bp): </a:t>
            </a:r>
            <a:r>
              <a:rPr lang="en-US" sz="1400" dirty="0">
                <a:solidFill>
                  <a:schemeClr val="tx1"/>
                </a:solidFill>
              </a:rPr>
              <a:t>Kalshi builds to 160% and futures follow 49% within 2 hours.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oan Macro">
  <a:themeElements>
    <a:clrScheme name="Sloan Macro">
      <a:dk1>
        <a:srgbClr val="1E2126"/>
      </a:dk1>
      <a:lt1>
        <a:srgbClr val="FFFFFF"/>
      </a:lt1>
      <a:dk2>
        <a:srgbClr val="4B5058"/>
      </a:dk2>
      <a:lt2>
        <a:srgbClr val="F5EFF0"/>
      </a:lt2>
      <a:accent1>
        <a:srgbClr val="A31F34"/>
      </a:accent1>
      <a:accent2>
        <a:srgbClr val="4B5058"/>
      </a:accent2>
      <a:accent3>
        <a:srgbClr val="D99AA6"/>
      </a:accent3>
      <a:accent4>
        <a:srgbClr val="737881"/>
      </a:accent4>
      <a:accent5>
        <a:srgbClr val="6E1423"/>
      </a:accent5>
      <a:accent6>
        <a:srgbClr val="E3E3E3"/>
      </a:accent6>
      <a:hlink>
        <a:srgbClr val="A31F34"/>
      </a:hlink>
      <a:folHlink>
        <a:srgbClr val="6E1423"/>
      </a:folHlink>
    </a:clrScheme>
    <a:fontScheme name="Sloan Macr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2964</Words>
  <Application>Microsoft Macintosh PowerPoint</Application>
  <PresentationFormat>Widescreen</PresentationFormat>
  <Paragraphs>498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Arial</vt:lpstr>
      <vt:lpstr>Sloan Macro</vt:lpstr>
      <vt:lpstr>Prediction Markets as Macro Data</vt:lpstr>
      <vt:lpstr>Are prediction markets good macro forecasts?</vt:lpstr>
      <vt:lpstr>Kalshi has become a deep market for Fed decisions</vt:lpstr>
      <vt:lpstr>We replicate Diercks–Katz–Wright and improve on it</vt:lpstr>
      <vt:lpstr>Fed-decision prices show a favorite–longshot pattern</vt:lpstr>
      <vt:lpstr>A calibration regression confirms the pattern</vt:lpstr>
      <vt:lpstr>Futures give a benchmark probability for every meeting</vt:lpstr>
      <vt:lpstr>Kalshi tracks futures and is slightly more accurate to 30 days</vt:lpstr>
      <vt:lpstr>Intraday, futures lead Kalshi by about five minutes</vt:lpstr>
      <vt:lpstr>Futures only see the mean</vt:lpstr>
      <vt:lpstr>Next: the MacroTron</vt:lpstr>
      <vt:lpstr>Appendix</vt:lpstr>
      <vt:lpstr>Dataset: every Kalshi trade and 1-minute quote</vt:lpstr>
      <vt:lpstr>Literature: what is known and what we add</vt:lpstr>
      <vt:lpstr>Kalshi-implied rate paths vs. the realized target</vt:lpstr>
      <vt:lpstr>Replication accuracy by horizon</vt:lpstr>
      <vt:lpstr>Calibration regression: estimates</vt:lpstr>
      <vt:lpstr>No detectable change after the liquidity jump</vt:lpstr>
      <vt:lpstr>Accuracy fades with horizon, and single surprises dominate</vt:lpstr>
      <vt:lpstr>Daily snapshots show the same S-shape</vt:lpstr>
      <vt:lpstr>Specification fixed before any significance test</vt:lpstr>
      <vt:lpstr>CPI is under-confident, payrolls over-confident</vt:lpstr>
      <vt:lpstr>How futures-implied probabilities are computed</vt:lpstr>
      <vt:lpstr>Kalshi and futures are similarly under-confident</vt:lpstr>
      <vt:lpstr>Kalshi and futures agree closely near the meeting</vt:lpstr>
      <vt:lpstr>Reliability: futures vs. Kalshi</vt:lpstr>
      <vt:lpstr>Scores: Kalshi vs. futures by horizon</vt:lpstr>
      <vt:lpstr>Lead–lag: data and method</vt:lpstr>
      <vt:lpstr>The two markets track the same expectations</vt:lpstr>
      <vt:lpstr>Granger tests: futures predict Kalshi, much less the reverse</vt:lpstr>
      <vt:lpstr>After a large move, the other market follows only partly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Prediction Markets as Macro Data</dc:title>
  <dc:subject>PptxGenJS Presentation</dc:subject>
  <dc:creator>Andres Blanco Prada, Panos Koutsoukos, Connor Rippert, Vish</dc:creator>
  <cp:lastModifiedBy>Andres Blanco Prada</cp:lastModifiedBy>
  <cp:revision>1</cp:revision>
  <dcterms:created xsi:type="dcterms:W3CDTF">2026-10-13T19:17:25Z</dcterms:created>
  <dcterms:modified xsi:type="dcterms:W3CDTF">2026-10-13T19:21:06Z</dcterms:modified>
</cp:coreProperties>
</file>